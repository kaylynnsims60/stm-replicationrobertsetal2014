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268" r:id="rId5"/>
    <p:sldId id="269" r:id="rId6"/>
    <p:sldId id="270" r:id="rId7"/>
    <p:sldId id="259" r:id="rId8"/>
    <p:sldId id="265" r:id="rId9"/>
    <p:sldId id="266" r:id="rId10"/>
    <p:sldId id="264" r:id="rId11"/>
    <p:sldId id="267" r:id="rId12"/>
    <p:sldId id="262" r:id="rId13"/>
    <p:sldId id="271" r:id="rId14"/>
    <p:sldId id="272" r:id="rId15"/>
    <p:sldId id="263" r:id="rId16"/>
    <p:sldId id="261" r:id="rId17"/>
    <p:sldId id="27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115"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6EACCFC-F254-4526-BF31-D7E3ABF61BC8}"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B23456D9-8449-4651-8FF1-DCE70C1536EA}">
      <dgm:prSet/>
      <dgm:spPr/>
      <dgm:t>
        <a:bodyPr/>
        <a:lstStyle/>
        <a:p>
          <a:r>
            <a:rPr lang="en-CA" dirty="0"/>
            <a:t>The original data relied on developer helper scripts that were inaccessible/not included in the replication package or on the developer’s </a:t>
          </a:r>
          <a:r>
            <a:rPr lang="en-CA" dirty="0" err="1"/>
            <a:t>Github</a:t>
          </a:r>
          <a:endParaRPr lang="en-US" dirty="0"/>
        </a:p>
      </dgm:t>
    </dgm:pt>
    <dgm:pt modelId="{2FE6E0D9-489D-4DAB-AAB0-4B67A87C547F}" type="parTrans" cxnId="{B41145F0-9FEE-4F2E-89C6-0150CFCD2CDC}">
      <dgm:prSet/>
      <dgm:spPr/>
      <dgm:t>
        <a:bodyPr/>
        <a:lstStyle/>
        <a:p>
          <a:endParaRPr lang="en-US"/>
        </a:p>
      </dgm:t>
    </dgm:pt>
    <dgm:pt modelId="{FB0F27AA-C055-41C7-B007-DF42D9CDD1D2}" type="sibTrans" cxnId="{B41145F0-9FEE-4F2E-89C6-0150CFCD2CDC}">
      <dgm:prSet/>
      <dgm:spPr/>
      <dgm:t>
        <a:bodyPr/>
        <a:lstStyle/>
        <a:p>
          <a:endParaRPr lang="en-US"/>
        </a:p>
      </dgm:t>
    </dgm:pt>
    <dgm:pt modelId="{BBF6E758-4E5B-4BE7-B75D-11B9E3954863}">
      <dgm:prSet/>
      <dgm:spPr/>
      <dgm:t>
        <a:bodyPr/>
        <a:lstStyle/>
        <a:p>
          <a:r>
            <a:rPr lang="en-CA" dirty="0"/>
            <a:t>Similarly, the code relied on a development/early version of STM (which I also attempted to recover, but was unsuccessful)</a:t>
          </a:r>
          <a:endParaRPr lang="en-US" dirty="0"/>
        </a:p>
      </dgm:t>
    </dgm:pt>
    <dgm:pt modelId="{E8BAC9A7-F1E7-4439-990F-96CB77F9F912}" type="parTrans" cxnId="{9C7F4DEB-37FF-4218-83FB-6A23BAA3B3AF}">
      <dgm:prSet/>
      <dgm:spPr/>
      <dgm:t>
        <a:bodyPr/>
        <a:lstStyle/>
        <a:p>
          <a:endParaRPr lang="en-US"/>
        </a:p>
      </dgm:t>
    </dgm:pt>
    <dgm:pt modelId="{3B92BCE5-B379-46D6-B6E1-3B6BFF84F8D5}" type="sibTrans" cxnId="{9C7F4DEB-37FF-4218-83FB-6A23BAA3B3AF}">
      <dgm:prSet/>
      <dgm:spPr/>
      <dgm:t>
        <a:bodyPr/>
        <a:lstStyle/>
        <a:p>
          <a:endParaRPr lang="en-US"/>
        </a:p>
      </dgm:t>
    </dgm:pt>
    <dgm:pt modelId="{5EEE4F21-D9EE-4058-BE73-0BC07A9445A4}">
      <dgm:prSet/>
      <dgm:spPr/>
      <dgm:t>
        <a:bodyPr/>
        <a:lstStyle/>
        <a:p>
          <a:r>
            <a:rPr lang="en-CA" dirty="0"/>
            <a:t>Even when using the original seeds and models, exact model replication was not always possible, which led to different results</a:t>
          </a:r>
          <a:endParaRPr lang="en-US" dirty="0"/>
        </a:p>
      </dgm:t>
    </dgm:pt>
    <dgm:pt modelId="{43F611FE-0DA6-4FE4-A431-7BA6E4668043}" type="parTrans" cxnId="{192F2C75-8C1A-4FE4-AAC1-38AB26D32082}">
      <dgm:prSet/>
      <dgm:spPr/>
      <dgm:t>
        <a:bodyPr/>
        <a:lstStyle/>
        <a:p>
          <a:endParaRPr lang="en-US"/>
        </a:p>
      </dgm:t>
    </dgm:pt>
    <dgm:pt modelId="{8BA52B39-45F4-405A-B3D4-AA591E1C4FC9}" type="sibTrans" cxnId="{192F2C75-8C1A-4FE4-AAC1-38AB26D32082}">
      <dgm:prSet/>
      <dgm:spPr/>
      <dgm:t>
        <a:bodyPr/>
        <a:lstStyle/>
        <a:p>
          <a:endParaRPr lang="en-US"/>
        </a:p>
      </dgm:t>
    </dgm:pt>
    <dgm:pt modelId="{5A5B4609-C3E9-48B6-A5C9-B18217BE79C7}">
      <dgm:prSet/>
      <dgm:spPr/>
      <dgm:t>
        <a:bodyPr/>
        <a:lstStyle/>
        <a:p>
          <a:r>
            <a:rPr lang="en-CA"/>
            <a:t>There was internal inconsistency in the metadata and vocab files, which I could not fix without adding new/random data to approximate (which is straying pretty far from replicating)</a:t>
          </a:r>
          <a:endParaRPr lang="en-US"/>
        </a:p>
      </dgm:t>
    </dgm:pt>
    <dgm:pt modelId="{03BDC187-FAA0-41A9-B869-9FE8F42CA48E}" type="parTrans" cxnId="{3D0850F1-A6F8-4947-A963-6CC86D0DDB0F}">
      <dgm:prSet/>
      <dgm:spPr/>
      <dgm:t>
        <a:bodyPr/>
        <a:lstStyle/>
        <a:p>
          <a:endParaRPr lang="en-US"/>
        </a:p>
      </dgm:t>
    </dgm:pt>
    <dgm:pt modelId="{618DDFAE-E418-46B9-97F2-45EAE2DD833F}" type="sibTrans" cxnId="{3D0850F1-A6F8-4947-A963-6CC86D0DDB0F}">
      <dgm:prSet/>
      <dgm:spPr/>
      <dgm:t>
        <a:bodyPr/>
        <a:lstStyle/>
        <a:p>
          <a:endParaRPr lang="en-US"/>
        </a:p>
      </dgm:t>
    </dgm:pt>
    <dgm:pt modelId="{54595CE2-5E10-4EA4-9AA3-6AD1FC153A44}" type="pres">
      <dgm:prSet presAssocID="{66EACCFC-F254-4526-BF31-D7E3ABF61BC8}" presName="vert0" presStyleCnt="0">
        <dgm:presLayoutVars>
          <dgm:dir/>
          <dgm:animOne val="branch"/>
          <dgm:animLvl val="lvl"/>
        </dgm:presLayoutVars>
      </dgm:prSet>
      <dgm:spPr/>
    </dgm:pt>
    <dgm:pt modelId="{9B511E15-5096-4997-832C-358B061792BD}" type="pres">
      <dgm:prSet presAssocID="{B23456D9-8449-4651-8FF1-DCE70C1536EA}" presName="thickLine" presStyleLbl="alignNode1" presStyleIdx="0" presStyleCnt="4"/>
      <dgm:spPr/>
    </dgm:pt>
    <dgm:pt modelId="{2BCB638C-FA71-47FB-869B-C620FDACE98B}" type="pres">
      <dgm:prSet presAssocID="{B23456D9-8449-4651-8FF1-DCE70C1536EA}" presName="horz1" presStyleCnt="0"/>
      <dgm:spPr/>
    </dgm:pt>
    <dgm:pt modelId="{35C05024-87FA-41DA-8118-C9D51673CCE0}" type="pres">
      <dgm:prSet presAssocID="{B23456D9-8449-4651-8FF1-DCE70C1536EA}" presName="tx1" presStyleLbl="revTx" presStyleIdx="0" presStyleCnt="4"/>
      <dgm:spPr/>
    </dgm:pt>
    <dgm:pt modelId="{CD7F417A-81BF-46DA-86FA-472F33DBE5BF}" type="pres">
      <dgm:prSet presAssocID="{B23456D9-8449-4651-8FF1-DCE70C1536EA}" presName="vert1" presStyleCnt="0"/>
      <dgm:spPr/>
    </dgm:pt>
    <dgm:pt modelId="{7837FF9B-12C2-4328-A494-6CAD10D584A5}" type="pres">
      <dgm:prSet presAssocID="{BBF6E758-4E5B-4BE7-B75D-11B9E3954863}" presName="thickLine" presStyleLbl="alignNode1" presStyleIdx="1" presStyleCnt="4"/>
      <dgm:spPr/>
    </dgm:pt>
    <dgm:pt modelId="{457852CE-3BCD-42F5-B4F1-8D11D4970970}" type="pres">
      <dgm:prSet presAssocID="{BBF6E758-4E5B-4BE7-B75D-11B9E3954863}" presName="horz1" presStyleCnt="0"/>
      <dgm:spPr/>
    </dgm:pt>
    <dgm:pt modelId="{ECA6A3B1-D8EB-44F8-AC80-FA3E80AAB9B8}" type="pres">
      <dgm:prSet presAssocID="{BBF6E758-4E5B-4BE7-B75D-11B9E3954863}" presName="tx1" presStyleLbl="revTx" presStyleIdx="1" presStyleCnt="4"/>
      <dgm:spPr/>
    </dgm:pt>
    <dgm:pt modelId="{9EAB2148-AA16-40ED-A75F-543D4DA7DA6C}" type="pres">
      <dgm:prSet presAssocID="{BBF6E758-4E5B-4BE7-B75D-11B9E3954863}" presName="vert1" presStyleCnt="0"/>
      <dgm:spPr/>
    </dgm:pt>
    <dgm:pt modelId="{5B26743E-A9AC-43AC-8A82-1F9935D98E01}" type="pres">
      <dgm:prSet presAssocID="{5EEE4F21-D9EE-4058-BE73-0BC07A9445A4}" presName="thickLine" presStyleLbl="alignNode1" presStyleIdx="2" presStyleCnt="4"/>
      <dgm:spPr/>
    </dgm:pt>
    <dgm:pt modelId="{93BE2754-21A3-463D-BF46-542EF8EBB6E7}" type="pres">
      <dgm:prSet presAssocID="{5EEE4F21-D9EE-4058-BE73-0BC07A9445A4}" presName="horz1" presStyleCnt="0"/>
      <dgm:spPr/>
    </dgm:pt>
    <dgm:pt modelId="{CB1AF4C7-B9D2-499A-9C62-F07F19F6550C}" type="pres">
      <dgm:prSet presAssocID="{5EEE4F21-D9EE-4058-BE73-0BC07A9445A4}" presName="tx1" presStyleLbl="revTx" presStyleIdx="2" presStyleCnt="4"/>
      <dgm:spPr/>
    </dgm:pt>
    <dgm:pt modelId="{AD1B997E-0371-477E-B4F5-4D42E1C46DA6}" type="pres">
      <dgm:prSet presAssocID="{5EEE4F21-D9EE-4058-BE73-0BC07A9445A4}" presName="vert1" presStyleCnt="0"/>
      <dgm:spPr/>
    </dgm:pt>
    <dgm:pt modelId="{E15F4FB6-238F-4475-BE60-7DC5A6BDA648}" type="pres">
      <dgm:prSet presAssocID="{5A5B4609-C3E9-48B6-A5C9-B18217BE79C7}" presName="thickLine" presStyleLbl="alignNode1" presStyleIdx="3" presStyleCnt="4"/>
      <dgm:spPr/>
    </dgm:pt>
    <dgm:pt modelId="{4A390621-FFA1-4B30-94ED-A2EB564B2980}" type="pres">
      <dgm:prSet presAssocID="{5A5B4609-C3E9-48B6-A5C9-B18217BE79C7}" presName="horz1" presStyleCnt="0"/>
      <dgm:spPr/>
    </dgm:pt>
    <dgm:pt modelId="{EFA30D40-8B20-43A4-BB1E-0D7C6F64E72D}" type="pres">
      <dgm:prSet presAssocID="{5A5B4609-C3E9-48B6-A5C9-B18217BE79C7}" presName="tx1" presStyleLbl="revTx" presStyleIdx="3" presStyleCnt="4"/>
      <dgm:spPr/>
    </dgm:pt>
    <dgm:pt modelId="{EC57C16D-5939-4A7C-A3DE-40823E3C2BB4}" type="pres">
      <dgm:prSet presAssocID="{5A5B4609-C3E9-48B6-A5C9-B18217BE79C7}" presName="vert1" presStyleCnt="0"/>
      <dgm:spPr/>
    </dgm:pt>
  </dgm:ptLst>
  <dgm:cxnLst>
    <dgm:cxn modelId="{551A9C3F-7DF6-48EE-8FF4-9AB0C313BC8A}" type="presOf" srcId="{66EACCFC-F254-4526-BF31-D7E3ABF61BC8}" destId="{54595CE2-5E10-4EA4-9AA3-6AD1FC153A44}" srcOrd="0" destOrd="0" presId="urn:microsoft.com/office/officeart/2008/layout/LinedList"/>
    <dgm:cxn modelId="{192F2C75-8C1A-4FE4-AAC1-38AB26D32082}" srcId="{66EACCFC-F254-4526-BF31-D7E3ABF61BC8}" destId="{5EEE4F21-D9EE-4058-BE73-0BC07A9445A4}" srcOrd="2" destOrd="0" parTransId="{43F611FE-0DA6-4FE4-A431-7BA6E4668043}" sibTransId="{8BA52B39-45F4-405A-B3D4-AA591E1C4FC9}"/>
    <dgm:cxn modelId="{486AD9A7-FE6E-451F-94A0-C0566F55F936}" type="presOf" srcId="{B23456D9-8449-4651-8FF1-DCE70C1536EA}" destId="{35C05024-87FA-41DA-8118-C9D51673CCE0}" srcOrd="0" destOrd="0" presId="urn:microsoft.com/office/officeart/2008/layout/LinedList"/>
    <dgm:cxn modelId="{09B63CB2-FDF6-4EDC-9BB8-1D7E5187C737}" type="presOf" srcId="{5EEE4F21-D9EE-4058-BE73-0BC07A9445A4}" destId="{CB1AF4C7-B9D2-499A-9C62-F07F19F6550C}" srcOrd="0" destOrd="0" presId="urn:microsoft.com/office/officeart/2008/layout/LinedList"/>
    <dgm:cxn modelId="{9097EABC-C4BD-41F0-8113-4817E51C5C44}" type="presOf" srcId="{BBF6E758-4E5B-4BE7-B75D-11B9E3954863}" destId="{ECA6A3B1-D8EB-44F8-AC80-FA3E80AAB9B8}" srcOrd="0" destOrd="0" presId="urn:microsoft.com/office/officeart/2008/layout/LinedList"/>
    <dgm:cxn modelId="{E9BB74D5-FAF1-4829-94A3-CE47BC7A799A}" type="presOf" srcId="{5A5B4609-C3E9-48B6-A5C9-B18217BE79C7}" destId="{EFA30D40-8B20-43A4-BB1E-0D7C6F64E72D}" srcOrd="0" destOrd="0" presId="urn:microsoft.com/office/officeart/2008/layout/LinedList"/>
    <dgm:cxn modelId="{9C7F4DEB-37FF-4218-83FB-6A23BAA3B3AF}" srcId="{66EACCFC-F254-4526-BF31-D7E3ABF61BC8}" destId="{BBF6E758-4E5B-4BE7-B75D-11B9E3954863}" srcOrd="1" destOrd="0" parTransId="{E8BAC9A7-F1E7-4439-990F-96CB77F9F912}" sibTransId="{3B92BCE5-B379-46D6-B6E1-3B6BFF84F8D5}"/>
    <dgm:cxn modelId="{B41145F0-9FEE-4F2E-89C6-0150CFCD2CDC}" srcId="{66EACCFC-F254-4526-BF31-D7E3ABF61BC8}" destId="{B23456D9-8449-4651-8FF1-DCE70C1536EA}" srcOrd="0" destOrd="0" parTransId="{2FE6E0D9-489D-4DAB-AAB0-4B67A87C547F}" sibTransId="{FB0F27AA-C055-41C7-B007-DF42D9CDD1D2}"/>
    <dgm:cxn modelId="{3D0850F1-A6F8-4947-A963-6CC86D0DDB0F}" srcId="{66EACCFC-F254-4526-BF31-D7E3ABF61BC8}" destId="{5A5B4609-C3E9-48B6-A5C9-B18217BE79C7}" srcOrd="3" destOrd="0" parTransId="{03BDC187-FAA0-41A9-B869-9FE8F42CA48E}" sibTransId="{618DDFAE-E418-46B9-97F2-45EAE2DD833F}"/>
    <dgm:cxn modelId="{4D4AB968-1E89-4EB7-86F3-6A34F6F599A0}" type="presParOf" srcId="{54595CE2-5E10-4EA4-9AA3-6AD1FC153A44}" destId="{9B511E15-5096-4997-832C-358B061792BD}" srcOrd="0" destOrd="0" presId="urn:microsoft.com/office/officeart/2008/layout/LinedList"/>
    <dgm:cxn modelId="{864A1A3E-2F48-4BC6-A426-DAED7918723C}" type="presParOf" srcId="{54595CE2-5E10-4EA4-9AA3-6AD1FC153A44}" destId="{2BCB638C-FA71-47FB-869B-C620FDACE98B}" srcOrd="1" destOrd="0" presId="urn:microsoft.com/office/officeart/2008/layout/LinedList"/>
    <dgm:cxn modelId="{5EDE1E30-4B76-402A-BF15-2DBD8F69ECCF}" type="presParOf" srcId="{2BCB638C-FA71-47FB-869B-C620FDACE98B}" destId="{35C05024-87FA-41DA-8118-C9D51673CCE0}" srcOrd="0" destOrd="0" presId="urn:microsoft.com/office/officeart/2008/layout/LinedList"/>
    <dgm:cxn modelId="{7FD73D60-0119-4A19-BADB-29770BD796AA}" type="presParOf" srcId="{2BCB638C-FA71-47FB-869B-C620FDACE98B}" destId="{CD7F417A-81BF-46DA-86FA-472F33DBE5BF}" srcOrd="1" destOrd="0" presId="urn:microsoft.com/office/officeart/2008/layout/LinedList"/>
    <dgm:cxn modelId="{B2CBA623-D7A9-41E6-B728-D01747872C8D}" type="presParOf" srcId="{54595CE2-5E10-4EA4-9AA3-6AD1FC153A44}" destId="{7837FF9B-12C2-4328-A494-6CAD10D584A5}" srcOrd="2" destOrd="0" presId="urn:microsoft.com/office/officeart/2008/layout/LinedList"/>
    <dgm:cxn modelId="{B74E9E84-F3B1-459E-B60C-0591CB485520}" type="presParOf" srcId="{54595CE2-5E10-4EA4-9AA3-6AD1FC153A44}" destId="{457852CE-3BCD-42F5-B4F1-8D11D4970970}" srcOrd="3" destOrd="0" presId="urn:microsoft.com/office/officeart/2008/layout/LinedList"/>
    <dgm:cxn modelId="{45F244DD-A4DA-40EC-A5D4-70026C258211}" type="presParOf" srcId="{457852CE-3BCD-42F5-B4F1-8D11D4970970}" destId="{ECA6A3B1-D8EB-44F8-AC80-FA3E80AAB9B8}" srcOrd="0" destOrd="0" presId="urn:microsoft.com/office/officeart/2008/layout/LinedList"/>
    <dgm:cxn modelId="{288A2B8A-AF2F-49A6-9F04-099F9B73A0B0}" type="presParOf" srcId="{457852CE-3BCD-42F5-B4F1-8D11D4970970}" destId="{9EAB2148-AA16-40ED-A75F-543D4DA7DA6C}" srcOrd="1" destOrd="0" presId="urn:microsoft.com/office/officeart/2008/layout/LinedList"/>
    <dgm:cxn modelId="{562D8843-DC05-4E09-A359-8FD476974E92}" type="presParOf" srcId="{54595CE2-5E10-4EA4-9AA3-6AD1FC153A44}" destId="{5B26743E-A9AC-43AC-8A82-1F9935D98E01}" srcOrd="4" destOrd="0" presId="urn:microsoft.com/office/officeart/2008/layout/LinedList"/>
    <dgm:cxn modelId="{D127750A-921E-4D96-ADE0-C7CEA6A26A7B}" type="presParOf" srcId="{54595CE2-5E10-4EA4-9AA3-6AD1FC153A44}" destId="{93BE2754-21A3-463D-BF46-542EF8EBB6E7}" srcOrd="5" destOrd="0" presId="urn:microsoft.com/office/officeart/2008/layout/LinedList"/>
    <dgm:cxn modelId="{D61F49FB-8355-4122-B761-57B965B6939B}" type="presParOf" srcId="{93BE2754-21A3-463D-BF46-542EF8EBB6E7}" destId="{CB1AF4C7-B9D2-499A-9C62-F07F19F6550C}" srcOrd="0" destOrd="0" presId="urn:microsoft.com/office/officeart/2008/layout/LinedList"/>
    <dgm:cxn modelId="{33927C3D-95D7-4748-A596-2932DCB9617B}" type="presParOf" srcId="{93BE2754-21A3-463D-BF46-542EF8EBB6E7}" destId="{AD1B997E-0371-477E-B4F5-4D42E1C46DA6}" srcOrd="1" destOrd="0" presId="urn:microsoft.com/office/officeart/2008/layout/LinedList"/>
    <dgm:cxn modelId="{AB93B93E-89D8-413D-A296-9E92FCA953A1}" type="presParOf" srcId="{54595CE2-5E10-4EA4-9AA3-6AD1FC153A44}" destId="{E15F4FB6-238F-4475-BE60-7DC5A6BDA648}" srcOrd="6" destOrd="0" presId="urn:microsoft.com/office/officeart/2008/layout/LinedList"/>
    <dgm:cxn modelId="{ED519CB8-25AC-4FCB-A2A4-C62E85AB4FA0}" type="presParOf" srcId="{54595CE2-5E10-4EA4-9AA3-6AD1FC153A44}" destId="{4A390621-FFA1-4B30-94ED-A2EB564B2980}" srcOrd="7" destOrd="0" presId="urn:microsoft.com/office/officeart/2008/layout/LinedList"/>
    <dgm:cxn modelId="{F8313DE7-A46A-4AFA-849F-E81192462FAB}" type="presParOf" srcId="{4A390621-FFA1-4B30-94ED-A2EB564B2980}" destId="{EFA30D40-8B20-43A4-BB1E-0D7C6F64E72D}" srcOrd="0" destOrd="0" presId="urn:microsoft.com/office/officeart/2008/layout/LinedList"/>
    <dgm:cxn modelId="{832AC97D-F9DC-4C02-BA60-091B8E7F4036}" type="presParOf" srcId="{4A390621-FFA1-4B30-94ED-A2EB564B2980}" destId="{EC57C16D-5939-4A7C-A3DE-40823E3C2BB4}"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511E15-5096-4997-832C-358B061792BD}">
      <dsp:nvSpPr>
        <dsp:cNvPr id="0" name=""/>
        <dsp:cNvSpPr/>
      </dsp:nvSpPr>
      <dsp:spPr>
        <a:xfrm>
          <a:off x="0" y="0"/>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C05024-87FA-41DA-8118-C9D51673CCE0}">
      <dsp:nvSpPr>
        <dsp:cNvPr id="0" name=""/>
        <dsp:cNvSpPr/>
      </dsp:nvSpPr>
      <dsp:spPr>
        <a:xfrm>
          <a:off x="0" y="0"/>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CA" sz="2100" kern="1200" dirty="0"/>
            <a:t>The original data relied on developer helper scripts that were inaccessible/not included in the replication package or on the developer’s </a:t>
          </a:r>
          <a:r>
            <a:rPr lang="en-CA" sz="2100" kern="1200" dirty="0" err="1"/>
            <a:t>Github</a:t>
          </a:r>
          <a:endParaRPr lang="en-US" sz="2100" kern="1200" dirty="0"/>
        </a:p>
      </dsp:txBody>
      <dsp:txXfrm>
        <a:off x="0" y="0"/>
        <a:ext cx="10515600" cy="1087834"/>
      </dsp:txXfrm>
    </dsp:sp>
    <dsp:sp modelId="{7837FF9B-12C2-4328-A494-6CAD10D584A5}">
      <dsp:nvSpPr>
        <dsp:cNvPr id="0" name=""/>
        <dsp:cNvSpPr/>
      </dsp:nvSpPr>
      <dsp:spPr>
        <a:xfrm>
          <a:off x="0" y="1087834"/>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CA6A3B1-D8EB-44F8-AC80-FA3E80AAB9B8}">
      <dsp:nvSpPr>
        <dsp:cNvPr id="0" name=""/>
        <dsp:cNvSpPr/>
      </dsp:nvSpPr>
      <dsp:spPr>
        <a:xfrm>
          <a:off x="0" y="1087834"/>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CA" sz="2100" kern="1200" dirty="0"/>
            <a:t>Similarly, the code relied on a development/early version of STM (which I also attempted to recover, but was unsuccessful)</a:t>
          </a:r>
          <a:endParaRPr lang="en-US" sz="2100" kern="1200" dirty="0"/>
        </a:p>
      </dsp:txBody>
      <dsp:txXfrm>
        <a:off x="0" y="1087834"/>
        <a:ext cx="10515600" cy="1087834"/>
      </dsp:txXfrm>
    </dsp:sp>
    <dsp:sp modelId="{5B26743E-A9AC-43AC-8A82-1F9935D98E01}">
      <dsp:nvSpPr>
        <dsp:cNvPr id="0" name=""/>
        <dsp:cNvSpPr/>
      </dsp:nvSpPr>
      <dsp:spPr>
        <a:xfrm>
          <a:off x="0" y="2175669"/>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1AF4C7-B9D2-499A-9C62-F07F19F6550C}">
      <dsp:nvSpPr>
        <dsp:cNvPr id="0" name=""/>
        <dsp:cNvSpPr/>
      </dsp:nvSpPr>
      <dsp:spPr>
        <a:xfrm>
          <a:off x="0" y="2175669"/>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CA" sz="2100" kern="1200" dirty="0"/>
            <a:t>Even when using the original seeds and models, exact model replication was not always possible, which led to different results</a:t>
          </a:r>
          <a:endParaRPr lang="en-US" sz="2100" kern="1200" dirty="0"/>
        </a:p>
      </dsp:txBody>
      <dsp:txXfrm>
        <a:off x="0" y="2175669"/>
        <a:ext cx="10515600" cy="1087834"/>
      </dsp:txXfrm>
    </dsp:sp>
    <dsp:sp modelId="{E15F4FB6-238F-4475-BE60-7DC5A6BDA648}">
      <dsp:nvSpPr>
        <dsp:cNvPr id="0" name=""/>
        <dsp:cNvSpPr/>
      </dsp:nvSpPr>
      <dsp:spPr>
        <a:xfrm>
          <a:off x="0" y="3263503"/>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FA30D40-8B20-43A4-BB1E-0D7C6F64E72D}">
      <dsp:nvSpPr>
        <dsp:cNvPr id="0" name=""/>
        <dsp:cNvSpPr/>
      </dsp:nvSpPr>
      <dsp:spPr>
        <a:xfrm>
          <a:off x="0" y="3263503"/>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CA" sz="2100" kern="1200"/>
            <a:t>There was internal inconsistency in the metadata and vocab files, which I could not fix without adding new/random data to approximate (which is straying pretty far from replicating)</a:t>
          </a:r>
          <a:endParaRPr lang="en-US" sz="2100" kern="1200"/>
        </a:p>
      </dsp:txBody>
      <dsp:txXfrm>
        <a:off x="0" y="3263503"/>
        <a:ext cx="10515600" cy="1087834"/>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43FDD9-185F-4798-91DA-E5F1962CCDA5}" type="datetimeFigureOut">
              <a:rPr lang="en-CA" smtClean="0"/>
              <a:t>2026-03-29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422861-3B57-4FF4-A8D2-2DCB414B50FC}" type="slidenum">
              <a:rPr lang="en-CA" smtClean="0"/>
              <a:t>‹#›</a:t>
            </a:fld>
            <a:endParaRPr lang="en-CA"/>
          </a:p>
        </p:txBody>
      </p:sp>
    </p:spTree>
    <p:extLst>
      <p:ext uri="{BB962C8B-B14F-4D97-AF65-F5344CB8AC3E}">
        <p14:creationId xmlns:p14="http://schemas.microsoft.com/office/powerpoint/2010/main" val="3285088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Topics 1 and 2 are flipped, because my Topic 1 is equivalent to their Topic 2  and my Topic 2 is equivalent to their Topic 1</a:t>
            </a:r>
          </a:p>
        </p:txBody>
      </p:sp>
      <p:sp>
        <p:nvSpPr>
          <p:cNvPr id="4" name="Slide Number Placeholder 3"/>
          <p:cNvSpPr>
            <a:spLocks noGrp="1"/>
          </p:cNvSpPr>
          <p:nvPr>
            <p:ph type="sldNum" sz="quarter" idx="5"/>
          </p:nvPr>
        </p:nvSpPr>
        <p:spPr/>
        <p:txBody>
          <a:bodyPr/>
          <a:lstStyle/>
          <a:p>
            <a:fld id="{AD422861-3B57-4FF4-A8D2-2DCB414B50FC}" type="slidenum">
              <a:rPr lang="en-CA" smtClean="0"/>
              <a:t>7</a:t>
            </a:fld>
            <a:endParaRPr lang="en-CA"/>
          </a:p>
        </p:txBody>
      </p:sp>
    </p:spTree>
    <p:extLst>
      <p:ext uri="{BB962C8B-B14F-4D97-AF65-F5344CB8AC3E}">
        <p14:creationId xmlns:p14="http://schemas.microsoft.com/office/powerpoint/2010/main" val="40113039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5DD89-4587-D5C9-CF51-57C6176F2B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22D478B8-43C4-B765-FC0D-736C93002B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404E29A5-5852-1A4A-05C5-3FD193ED307C}"/>
              </a:ext>
            </a:extLst>
          </p:cNvPr>
          <p:cNvSpPr>
            <a:spLocks noGrp="1"/>
          </p:cNvSpPr>
          <p:nvPr>
            <p:ph type="dt" sz="half" idx="10"/>
          </p:nvPr>
        </p:nvSpPr>
        <p:spPr/>
        <p:txBody>
          <a:bodyPr/>
          <a:lstStyle/>
          <a:p>
            <a:fld id="{E7DFD76E-C43A-4121-852B-A74A38451FA8}" type="datetimeFigureOut">
              <a:rPr lang="en-CA" smtClean="0"/>
              <a:t>2026-03-29</a:t>
            </a:fld>
            <a:endParaRPr lang="en-CA"/>
          </a:p>
        </p:txBody>
      </p:sp>
      <p:sp>
        <p:nvSpPr>
          <p:cNvPr id="5" name="Footer Placeholder 4">
            <a:extLst>
              <a:ext uri="{FF2B5EF4-FFF2-40B4-BE49-F238E27FC236}">
                <a16:creationId xmlns:a16="http://schemas.microsoft.com/office/drawing/2014/main" id="{A92A4666-22AF-2028-6394-9E584D163BBC}"/>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A2E0753-059A-2DB0-0C47-AA5D9B403719}"/>
              </a:ext>
            </a:extLst>
          </p:cNvPr>
          <p:cNvSpPr>
            <a:spLocks noGrp="1"/>
          </p:cNvSpPr>
          <p:nvPr>
            <p:ph type="sldNum" sz="quarter" idx="12"/>
          </p:nvPr>
        </p:nvSpPr>
        <p:spPr/>
        <p:txBody>
          <a:bodyPr/>
          <a:lstStyle/>
          <a:p>
            <a:fld id="{1D084A11-EDD1-4C67-803C-C11FE4C28846}" type="slidenum">
              <a:rPr lang="en-CA" smtClean="0"/>
              <a:t>‹#›</a:t>
            </a:fld>
            <a:endParaRPr lang="en-CA"/>
          </a:p>
        </p:txBody>
      </p:sp>
    </p:spTree>
    <p:extLst>
      <p:ext uri="{BB962C8B-B14F-4D97-AF65-F5344CB8AC3E}">
        <p14:creationId xmlns:p14="http://schemas.microsoft.com/office/powerpoint/2010/main" val="3906536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A7277-4226-74E1-9F86-5EA00157AF22}"/>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49128B80-FDDA-40C0-4572-765FD72262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A42D9C2-7613-607D-2703-0E0ED15B32B4}"/>
              </a:ext>
            </a:extLst>
          </p:cNvPr>
          <p:cNvSpPr>
            <a:spLocks noGrp="1"/>
          </p:cNvSpPr>
          <p:nvPr>
            <p:ph type="dt" sz="half" idx="10"/>
          </p:nvPr>
        </p:nvSpPr>
        <p:spPr/>
        <p:txBody>
          <a:bodyPr/>
          <a:lstStyle/>
          <a:p>
            <a:fld id="{E7DFD76E-C43A-4121-852B-A74A38451FA8}" type="datetimeFigureOut">
              <a:rPr lang="en-CA" smtClean="0"/>
              <a:t>2026-03-29</a:t>
            </a:fld>
            <a:endParaRPr lang="en-CA"/>
          </a:p>
        </p:txBody>
      </p:sp>
      <p:sp>
        <p:nvSpPr>
          <p:cNvPr id="5" name="Footer Placeholder 4">
            <a:extLst>
              <a:ext uri="{FF2B5EF4-FFF2-40B4-BE49-F238E27FC236}">
                <a16:creationId xmlns:a16="http://schemas.microsoft.com/office/drawing/2014/main" id="{C343635A-A85F-85A7-EF59-639156F7773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3FDF93E-D915-2DF2-3442-B83C262CAD9C}"/>
              </a:ext>
            </a:extLst>
          </p:cNvPr>
          <p:cNvSpPr>
            <a:spLocks noGrp="1"/>
          </p:cNvSpPr>
          <p:nvPr>
            <p:ph type="sldNum" sz="quarter" idx="12"/>
          </p:nvPr>
        </p:nvSpPr>
        <p:spPr/>
        <p:txBody>
          <a:bodyPr/>
          <a:lstStyle/>
          <a:p>
            <a:fld id="{1D084A11-EDD1-4C67-803C-C11FE4C28846}" type="slidenum">
              <a:rPr lang="en-CA" smtClean="0"/>
              <a:t>‹#›</a:t>
            </a:fld>
            <a:endParaRPr lang="en-CA"/>
          </a:p>
        </p:txBody>
      </p:sp>
    </p:spTree>
    <p:extLst>
      <p:ext uri="{BB962C8B-B14F-4D97-AF65-F5344CB8AC3E}">
        <p14:creationId xmlns:p14="http://schemas.microsoft.com/office/powerpoint/2010/main" val="890152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46896-3D4F-6EEA-F7AE-76433A040B0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5B8EBB87-08B8-002D-D5D4-9142ECC28D4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9488DB9-F00B-E182-F3C0-8F7B529C2F45}"/>
              </a:ext>
            </a:extLst>
          </p:cNvPr>
          <p:cNvSpPr>
            <a:spLocks noGrp="1"/>
          </p:cNvSpPr>
          <p:nvPr>
            <p:ph type="dt" sz="half" idx="10"/>
          </p:nvPr>
        </p:nvSpPr>
        <p:spPr/>
        <p:txBody>
          <a:bodyPr/>
          <a:lstStyle/>
          <a:p>
            <a:fld id="{E7DFD76E-C43A-4121-852B-A74A38451FA8}" type="datetimeFigureOut">
              <a:rPr lang="en-CA" smtClean="0"/>
              <a:t>2026-03-29</a:t>
            </a:fld>
            <a:endParaRPr lang="en-CA"/>
          </a:p>
        </p:txBody>
      </p:sp>
      <p:sp>
        <p:nvSpPr>
          <p:cNvPr id="5" name="Footer Placeholder 4">
            <a:extLst>
              <a:ext uri="{FF2B5EF4-FFF2-40B4-BE49-F238E27FC236}">
                <a16:creationId xmlns:a16="http://schemas.microsoft.com/office/drawing/2014/main" id="{98B95CFE-4273-795F-59C8-BA42E81CDF6C}"/>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6C31483-93AB-E824-4A39-2E72F85171D9}"/>
              </a:ext>
            </a:extLst>
          </p:cNvPr>
          <p:cNvSpPr>
            <a:spLocks noGrp="1"/>
          </p:cNvSpPr>
          <p:nvPr>
            <p:ph type="sldNum" sz="quarter" idx="12"/>
          </p:nvPr>
        </p:nvSpPr>
        <p:spPr/>
        <p:txBody>
          <a:bodyPr/>
          <a:lstStyle/>
          <a:p>
            <a:fld id="{1D084A11-EDD1-4C67-803C-C11FE4C28846}" type="slidenum">
              <a:rPr lang="en-CA" smtClean="0"/>
              <a:t>‹#›</a:t>
            </a:fld>
            <a:endParaRPr lang="en-CA"/>
          </a:p>
        </p:txBody>
      </p:sp>
    </p:spTree>
    <p:extLst>
      <p:ext uri="{BB962C8B-B14F-4D97-AF65-F5344CB8AC3E}">
        <p14:creationId xmlns:p14="http://schemas.microsoft.com/office/powerpoint/2010/main" val="355566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EDFBD-3AAD-2056-BFB1-BD635E76E2F5}"/>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DF550BE7-A62C-CFF1-C058-37EDA23985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C32C0D9E-5DFA-DB13-BD75-60F34E8EBF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95E9541B-C8EF-6291-F5AC-4F22C2F24765}"/>
              </a:ext>
            </a:extLst>
          </p:cNvPr>
          <p:cNvSpPr>
            <a:spLocks noGrp="1"/>
          </p:cNvSpPr>
          <p:nvPr>
            <p:ph type="dt" sz="half" idx="10"/>
          </p:nvPr>
        </p:nvSpPr>
        <p:spPr/>
        <p:txBody>
          <a:bodyPr/>
          <a:lstStyle/>
          <a:p>
            <a:fld id="{E7DFD76E-C43A-4121-852B-A74A38451FA8}" type="datetimeFigureOut">
              <a:rPr lang="en-CA" smtClean="0"/>
              <a:t>2026-03-29</a:t>
            </a:fld>
            <a:endParaRPr lang="en-CA"/>
          </a:p>
        </p:txBody>
      </p:sp>
      <p:sp>
        <p:nvSpPr>
          <p:cNvPr id="6" name="Footer Placeholder 5">
            <a:extLst>
              <a:ext uri="{FF2B5EF4-FFF2-40B4-BE49-F238E27FC236}">
                <a16:creationId xmlns:a16="http://schemas.microsoft.com/office/drawing/2014/main" id="{C3F74764-3A8B-EF05-511C-FEC3C67418A2}"/>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7A5E7B0B-0A79-2529-12D9-5FFEA648707F}"/>
              </a:ext>
            </a:extLst>
          </p:cNvPr>
          <p:cNvSpPr>
            <a:spLocks noGrp="1"/>
          </p:cNvSpPr>
          <p:nvPr>
            <p:ph type="sldNum" sz="quarter" idx="12"/>
          </p:nvPr>
        </p:nvSpPr>
        <p:spPr/>
        <p:txBody>
          <a:bodyPr/>
          <a:lstStyle/>
          <a:p>
            <a:fld id="{1D084A11-EDD1-4C67-803C-C11FE4C28846}" type="slidenum">
              <a:rPr lang="en-CA" smtClean="0"/>
              <a:t>‹#›</a:t>
            </a:fld>
            <a:endParaRPr lang="en-CA"/>
          </a:p>
        </p:txBody>
      </p:sp>
    </p:spTree>
    <p:extLst>
      <p:ext uri="{BB962C8B-B14F-4D97-AF65-F5344CB8AC3E}">
        <p14:creationId xmlns:p14="http://schemas.microsoft.com/office/powerpoint/2010/main" val="17006279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D296E-9454-290B-2898-80C03212B1EB}"/>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F41E02F4-A469-ACAF-3C10-5715FDDD8A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9CF3793-DE0B-0462-13ED-5AEA2244336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35B5E9BE-D98C-B4A9-32D0-DA0AA5AC42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767F1E5-6FD4-85C9-8910-BDEEA405C74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274DD854-E0C0-E958-5824-A252BC64C114}"/>
              </a:ext>
            </a:extLst>
          </p:cNvPr>
          <p:cNvSpPr>
            <a:spLocks noGrp="1"/>
          </p:cNvSpPr>
          <p:nvPr>
            <p:ph type="dt" sz="half" idx="10"/>
          </p:nvPr>
        </p:nvSpPr>
        <p:spPr/>
        <p:txBody>
          <a:bodyPr/>
          <a:lstStyle/>
          <a:p>
            <a:fld id="{E7DFD76E-C43A-4121-852B-A74A38451FA8}" type="datetimeFigureOut">
              <a:rPr lang="en-CA" smtClean="0"/>
              <a:t>2026-03-29</a:t>
            </a:fld>
            <a:endParaRPr lang="en-CA"/>
          </a:p>
        </p:txBody>
      </p:sp>
      <p:sp>
        <p:nvSpPr>
          <p:cNvPr id="8" name="Footer Placeholder 7">
            <a:extLst>
              <a:ext uri="{FF2B5EF4-FFF2-40B4-BE49-F238E27FC236}">
                <a16:creationId xmlns:a16="http://schemas.microsoft.com/office/drawing/2014/main" id="{F71513BA-D7A6-3E31-C712-5D03319658F0}"/>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399DC495-E720-6F33-C4B7-36058F5E3FDC}"/>
              </a:ext>
            </a:extLst>
          </p:cNvPr>
          <p:cNvSpPr>
            <a:spLocks noGrp="1"/>
          </p:cNvSpPr>
          <p:nvPr>
            <p:ph type="sldNum" sz="quarter" idx="12"/>
          </p:nvPr>
        </p:nvSpPr>
        <p:spPr/>
        <p:txBody>
          <a:bodyPr/>
          <a:lstStyle/>
          <a:p>
            <a:fld id="{1D084A11-EDD1-4C67-803C-C11FE4C28846}" type="slidenum">
              <a:rPr lang="en-CA" smtClean="0"/>
              <a:t>‹#›</a:t>
            </a:fld>
            <a:endParaRPr lang="en-CA"/>
          </a:p>
        </p:txBody>
      </p:sp>
    </p:spTree>
    <p:extLst>
      <p:ext uri="{BB962C8B-B14F-4D97-AF65-F5344CB8AC3E}">
        <p14:creationId xmlns:p14="http://schemas.microsoft.com/office/powerpoint/2010/main" val="2326235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10E8E-7F21-19C3-6276-6AC3073BC185}"/>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71B85789-4DBE-B373-3980-FF9AF988B463}"/>
              </a:ext>
            </a:extLst>
          </p:cNvPr>
          <p:cNvSpPr>
            <a:spLocks noGrp="1"/>
          </p:cNvSpPr>
          <p:nvPr>
            <p:ph type="dt" sz="half" idx="10"/>
          </p:nvPr>
        </p:nvSpPr>
        <p:spPr/>
        <p:txBody>
          <a:bodyPr/>
          <a:lstStyle/>
          <a:p>
            <a:fld id="{E7DFD76E-C43A-4121-852B-A74A38451FA8}" type="datetimeFigureOut">
              <a:rPr lang="en-CA" smtClean="0"/>
              <a:t>2026-03-29</a:t>
            </a:fld>
            <a:endParaRPr lang="en-CA"/>
          </a:p>
        </p:txBody>
      </p:sp>
      <p:sp>
        <p:nvSpPr>
          <p:cNvPr id="4" name="Footer Placeholder 3">
            <a:extLst>
              <a:ext uri="{FF2B5EF4-FFF2-40B4-BE49-F238E27FC236}">
                <a16:creationId xmlns:a16="http://schemas.microsoft.com/office/drawing/2014/main" id="{B8BB4256-B889-C5DC-B272-663ABD726BFA}"/>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A8D12C57-2B60-83D1-F492-8A5808E994FF}"/>
              </a:ext>
            </a:extLst>
          </p:cNvPr>
          <p:cNvSpPr>
            <a:spLocks noGrp="1"/>
          </p:cNvSpPr>
          <p:nvPr>
            <p:ph type="sldNum" sz="quarter" idx="12"/>
          </p:nvPr>
        </p:nvSpPr>
        <p:spPr/>
        <p:txBody>
          <a:bodyPr/>
          <a:lstStyle/>
          <a:p>
            <a:fld id="{1D084A11-EDD1-4C67-803C-C11FE4C28846}" type="slidenum">
              <a:rPr lang="en-CA" smtClean="0"/>
              <a:t>‹#›</a:t>
            </a:fld>
            <a:endParaRPr lang="en-CA"/>
          </a:p>
        </p:txBody>
      </p:sp>
    </p:spTree>
    <p:extLst>
      <p:ext uri="{BB962C8B-B14F-4D97-AF65-F5344CB8AC3E}">
        <p14:creationId xmlns:p14="http://schemas.microsoft.com/office/powerpoint/2010/main" val="2718761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F4ECBB-BF62-6C40-8D4F-212C475BD8F0}"/>
              </a:ext>
            </a:extLst>
          </p:cNvPr>
          <p:cNvSpPr>
            <a:spLocks noGrp="1"/>
          </p:cNvSpPr>
          <p:nvPr>
            <p:ph type="dt" sz="half" idx="10"/>
          </p:nvPr>
        </p:nvSpPr>
        <p:spPr/>
        <p:txBody>
          <a:bodyPr/>
          <a:lstStyle/>
          <a:p>
            <a:fld id="{E7DFD76E-C43A-4121-852B-A74A38451FA8}" type="datetimeFigureOut">
              <a:rPr lang="en-CA" smtClean="0"/>
              <a:t>2026-03-29</a:t>
            </a:fld>
            <a:endParaRPr lang="en-CA"/>
          </a:p>
        </p:txBody>
      </p:sp>
      <p:sp>
        <p:nvSpPr>
          <p:cNvPr id="3" name="Footer Placeholder 2">
            <a:extLst>
              <a:ext uri="{FF2B5EF4-FFF2-40B4-BE49-F238E27FC236}">
                <a16:creationId xmlns:a16="http://schemas.microsoft.com/office/drawing/2014/main" id="{4F6260C7-AC84-594E-D267-D82698885345}"/>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8D8C266B-1B5F-9B35-AECE-BF17429B2481}"/>
              </a:ext>
            </a:extLst>
          </p:cNvPr>
          <p:cNvSpPr>
            <a:spLocks noGrp="1"/>
          </p:cNvSpPr>
          <p:nvPr>
            <p:ph type="sldNum" sz="quarter" idx="12"/>
          </p:nvPr>
        </p:nvSpPr>
        <p:spPr/>
        <p:txBody>
          <a:bodyPr/>
          <a:lstStyle/>
          <a:p>
            <a:fld id="{1D084A11-EDD1-4C67-803C-C11FE4C28846}" type="slidenum">
              <a:rPr lang="en-CA" smtClean="0"/>
              <a:t>‹#›</a:t>
            </a:fld>
            <a:endParaRPr lang="en-CA"/>
          </a:p>
        </p:txBody>
      </p:sp>
    </p:spTree>
    <p:extLst>
      <p:ext uri="{BB962C8B-B14F-4D97-AF65-F5344CB8AC3E}">
        <p14:creationId xmlns:p14="http://schemas.microsoft.com/office/powerpoint/2010/main" val="3568284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BC2FC-ADCA-ACB4-DC55-71D606A50C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2FFDE96D-F6B0-A2A7-EEA6-AB624FE811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2E2637B8-E6F7-C79A-686B-329763FF78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DC66FD-DAEE-51FA-803F-B4B591894017}"/>
              </a:ext>
            </a:extLst>
          </p:cNvPr>
          <p:cNvSpPr>
            <a:spLocks noGrp="1"/>
          </p:cNvSpPr>
          <p:nvPr>
            <p:ph type="dt" sz="half" idx="10"/>
          </p:nvPr>
        </p:nvSpPr>
        <p:spPr/>
        <p:txBody>
          <a:bodyPr/>
          <a:lstStyle/>
          <a:p>
            <a:fld id="{E7DFD76E-C43A-4121-852B-A74A38451FA8}" type="datetimeFigureOut">
              <a:rPr lang="en-CA" smtClean="0"/>
              <a:t>2026-03-29</a:t>
            </a:fld>
            <a:endParaRPr lang="en-CA"/>
          </a:p>
        </p:txBody>
      </p:sp>
      <p:sp>
        <p:nvSpPr>
          <p:cNvPr id="6" name="Footer Placeholder 5">
            <a:extLst>
              <a:ext uri="{FF2B5EF4-FFF2-40B4-BE49-F238E27FC236}">
                <a16:creationId xmlns:a16="http://schemas.microsoft.com/office/drawing/2014/main" id="{83667C7D-1568-D7BA-83DF-EC259D73072C}"/>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DF159308-8300-C5D2-71AA-781A45418691}"/>
              </a:ext>
            </a:extLst>
          </p:cNvPr>
          <p:cNvSpPr>
            <a:spLocks noGrp="1"/>
          </p:cNvSpPr>
          <p:nvPr>
            <p:ph type="sldNum" sz="quarter" idx="12"/>
          </p:nvPr>
        </p:nvSpPr>
        <p:spPr/>
        <p:txBody>
          <a:bodyPr/>
          <a:lstStyle/>
          <a:p>
            <a:fld id="{1D084A11-EDD1-4C67-803C-C11FE4C28846}" type="slidenum">
              <a:rPr lang="en-CA" smtClean="0"/>
              <a:t>‹#›</a:t>
            </a:fld>
            <a:endParaRPr lang="en-CA"/>
          </a:p>
        </p:txBody>
      </p:sp>
    </p:spTree>
    <p:extLst>
      <p:ext uri="{BB962C8B-B14F-4D97-AF65-F5344CB8AC3E}">
        <p14:creationId xmlns:p14="http://schemas.microsoft.com/office/powerpoint/2010/main" val="28363598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50BE2-2361-B1B6-D71A-B6B56F4C5D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900B22C4-48BF-8D2D-C2A6-BA204F7A2E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18F72ED3-2BE0-D854-B4AF-BDCA1F2A8F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EC68B0-044F-9757-9A35-0B60C3FE0D9A}"/>
              </a:ext>
            </a:extLst>
          </p:cNvPr>
          <p:cNvSpPr>
            <a:spLocks noGrp="1"/>
          </p:cNvSpPr>
          <p:nvPr>
            <p:ph type="dt" sz="half" idx="10"/>
          </p:nvPr>
        </p:nvSpPr>
        <p:spPr/>
        <p:txBody>
          <a:bodyPr/>
          <a:lstStyle/>
          <a:p>
            <a:fld id="{E7DFD76E-C43A-4121-852B-A74A38451FA8}" type="datetimeFigureOut">
              <a:rPr lang="en-CA" smtClean="0"/>
              <a:t>2026-03-29</a:t>
            </a:fld>
            <a:endParaRPr lang="en-CA"/>
          </a:p>
        </p:txBody>
      </p:sp>
      <p:sp>
        <p:nvSpPr>
          <p:cNvPr id="6" name="Footer Placeholder 5">
            <a:extLst>
              <a:ext uri="{FF2B5EF4-FFF2-40B4-BE49-F238E27FC236}">
                <a16:creationId xmlns:a16="http://schemas.microsoft.com/office/drawing/2014/main" id="{9E678182-0FB9-3C89-ECA5-03E2167F78BE}"/>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7608BB20-AAF1-4E27-AE64-A139FDB6CEEB}"/>
              </a:ext>
            </a:extLst>
          </p:cNvPr>
          <p:cNvSpPr>
            <a:spLocks noGrp="1"/>
          </p:cNvSpPr>
          <p:nvPr>
            <p:ph type="sldNum" sz="quarter" idx="12"/>
          </p:nvPr>
        </p:nvSpPr>
        <p:spPr/>
        <p:txBody>
          <a:bodyPr/>
          <a:lstStyle/>
          <a:p>
            <a:fld id="{1D084A11-EDD1-4C67-803C-C11FE4C28846}" type="slidenum">
              <a:rPr lang="en-CA" smtClean="0"/>
              <a:t>‹#›</a:t>
            </a:fld>
            <a:endParaRPr lang="en-CA"/>
          </a:p>
        </p:txBody>
      </p:sp>
    </p:spTree>
    <p:extLst>
      <p:ext uri="{BB962C8B-B14F-4D97-AF65-F5344CB8AC3E}">
        <p14:creationId xmlns:p14="http://schemas.microsoft.com/office/powerpoint/2010/main" val="35525884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99E85-F3FB-56F4-75A5-B88A15478151}"/>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CB1FE7D0-5668-0A76-D242-9DA354D19A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CDFB8306-09CF-94E8-91AD-21C7B1FA2092}"/>
              </a:ext>
            </a:extLst>
          </p:cNvPr>
          <p:cNvSpPr>
            <a:spLocks noGrp="1"/>
          </p:cNvSpPr>
          <p:nvPr>
            <p:ph type="dt" sz="half" idx="10"/>
          </p:nvPr>
        </p:nvSpPr>
        <p:spPr/>
        <p:txBody>
          <a:bodyPr/>
          <a:lstStyle/>
          <a:p>
            <a:fld id="{E7DFD76E-C43A-4121-852B-A74A38451FA8}" type="datetimeFigureOut">
              <a:rPr lang="en-CA" smtClean="0"/>
              <a:t>2026-03-29</a:t>
            </a:fld>
            <a:endParaRPr lang="en-CA"/>
          </a:p>
        </p:txBody>
      </p:sp>
      <p:sp>
        <p:nvSpPr>
          <p:cNvPr id="5" name="Footer Placeholder 4">
            <a:extLst>
              <a:ext uri="{FF2B5EF4-FFF2-40B4-BE49-F238E27FC236}">
                <a16:creationId xmlns:a16="http://schemas.microsoft.com/office/drawing/2014/main" id="{A5C5D0AA-AD49-7855-E1B3-E506EF42E78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F8C87A8-6C01-AF4D-B117-AB957D7A244E}"/>
              </a:ext>
            </a:extLst>
          </p:cNvPr>
          <p:cNvSpPr>
            <a:spLocks noGrp="1"/>
          </p:cNvSpPr>
          <p:nvPr>
            <p:ph type="sldNum" sz="quarter" idx="12"/>
          </p:nvPr>
        </p:nvSpPr>
        <p:spPr/>
        <p:txBody>
          <a:bodyPr/>
          <a:lstStyle/>
          <a:p>
            <a:fld id="{1D084A11-EDD1-4C67-803C-C11FE4C28846}" type="slidenum">
              <a:rPr lang="en-CA" smtClean="0"/>
              <a:t>‹#›</a:t>
            </a:fld>
            <a:endParaRPr lang="en-CA"/>
          </a:p>
        </p:txBody>
      </p:sp>
    </p:spTree>
    <p:extLst>
      <p:ext uri="{BB962C8B-B14F-4D97-AF65-F5344CB8AC3E}">
        <p14:creationId xmlns:p14="http://schemas.microsoft.com/office/powerpoint/2010/main" val="716018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F55E673-898E-62C4-5206-441E47DB8D1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08459BDB-009E-1B9D-D3A6-417F131EBB2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CB9D2EA0-1CA4-213E-4B03-A61C241F0C0F}"/>
              </a:ext>
            </a:extLst>
          </p:cNvPr>
          <p:cNvSpPr>
            <a:spLocks noGrp="1"/>
          </p:cNvSpPr>
          <p:nvPr>
            <p:ph type="dt" sz="half" idx="10"/>
          </p:nvPr>
        </p:nvSpPr>
        <p:spPr/>
        <p:txBody>
          <a:bodyPr/>
          <a:lstStyle/>
          <a:p>
            <a:fld id="{E7DFD76E-C43A-4121-852B-A74A38451FA8}" type="datetimeFigureOut">
              <a:rPr lang="en-CA" smtClean="0"/>
              <a:t>2026-03-29</a:t>
            </a:fld>
            <a:endParaRPr lang="en-CA"/>
          </a:p>
        </p:txBody>
      </p:sp>
      <p:sp>
        <p:nvSpPr>
          <p:cNvPr id="5" name="Footer Placeholder 4">
            <a:extLst>
              <a:ext uri="{FF2B5EF4-FFF2-40B4-BE49-F238E27FC236}">
                <a16:creationId xmlns:a16="http://schemas.microsoft.com/office/drawing/2014/main" id="{87E4E784-EF91-A312-B4DD-650C1F55EEA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BD8E008E-9F93-22E2-5110-1AE62058BB0E}"/>
              </a:ext>
            </a:extLst>
          </p:cNvPr>
          <p:cNvSpPr>
            <a:spLocks noGrp="1"/>
          </p:cNvSpPr>
          <p:nvPr>
            <p:ph type="sldNum" sz="quarter" idx="12"/>
          </p:nvPr>
        </p:nvSpPr>
        <p:spPr/>
        <p:txBody>
          <a:bodyPr/>
          <a:lstStyle/>
          <a:p>
            <a:fld id="{1D084A11-EDD1-4C67-803C-C11FE4C28846}" type="slidenum">
              <a:rPr lang="en-CA" smtClean="0"/>
              <a:t>‹#›</a:t>
            </a:fld>
            <a:endParaRPr lang="en-CA"/>
          </a:p>
        </p:txBody>
      </p:sp>
    </p:spTree>
    <p:extLst>
      <p:ext uri="{BB962C8B-B14F-4D97-AF65-F5344CB8AC3E}">
        <p14:creationId xmlns:p14="http://schemas.microsoft.com/office/powerpoint/2010/main" val="12221722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C9B5AC-B5FE-B7B9-EA1C-BEF57EFBE3C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9114A3D7-07D0-BB3D-D6A9-5741138D76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CC1180E6-3A6D-2675-3AD1-9C6484D147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7DFD76E-C43A-4121-852B-A74A38451FA8}" type="datetimeFigureOut">
              <a:rPr lang="en-CA" smtClean="0"/>
              <a:t>2026-03-29</a:t>
            </a:fld>
            <a:endParaRPr lang="en-CA"/>
          </a:p>
        </p:txBody>
      </p:sp>
      <p:sp>
        <p:nvSpPr>
          <p:cNvPr id="5" name="Footer Placeholder 4">
            <a:extLst>
              <a:ext uri="{FF2B5EF4-FFF2-40B4-BE49-F238E27FC236}">
                <a16:creationId xmlns:a16="http://schemas.microsoft.com/office/drawing/2014/main" id="{BFFE06CC-3DD9-2257-DCAE-34AF74B77E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5F199C7A-3C67-30A0-CFA6-D2257741D3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D084A11-EDD1-4C67-803C-C11FE4C28846}" type="slidenum">
              <a:rPr lang="en-CA" smtClean="0"/>
              <a:t>‹#›</a:t>
            </a:fld>
            <a:endParaRPr lang="en-CA"/>
          </a:p>
        </p:txBody>
      </p:sp>
    </p:spTree>
    <p:extLst>
      <p:ext uri="{BB962C8B-B14F-4D97-AF65-F5344CB8AC3E}">
        <p14:creationId xmlns:p14="http://schemas.microsoft.com/office/powerpoint/2010/main" val="28063714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FEC7823C-FDD6-429C-986C-063FDEBF9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36">
            <a:extLst>
              <a:ext uri="{FF2B5EF4-FFF2-40B4-BE49-F238E27FC236}">
                <a16:creationId xmlns:a16="http://schemas.microsoft.com/office/drawing/2014/main" id="{9CF7FE1C-8BC5-4B0C-A2BC-93AB72C90F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bg2">
              <a:alpha val="50000"/>
            </a:schemeClr>
          </a:solidFill>
          <a:ln w="32707"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B0651F5E-0457-4065-ACB2-8B81590C2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050098" flipH="1" flipV="1">
            <a:off x="-160709" y="3977842"/>
            <a:ext cx="7507400" cy="3166385"/>
          </a:xfrm>
          <a:custGeom>
            <a:avLst/>
            <a:gdLst>
              <a:gd name="connsiteX0" fmla="*/ 5497485 w 7507400"/>
              <a:gd name="connsiteY0" fmla="*/ 2912009 h 3166385"/>
              <a:gd name="connsiteX1" fmla="*/ 7034681 w 7507400"/>
              <a:gd name="connsiteY1" fmla="*/ 3151263 h 3166385"/>
              <a:gd name="connsiteX2" fmla="*/ 7137723 w 7507400"/>
              <a:gd name="connsiteY2" fmla="*/ 3166385 h 3166385"/>
              <a:gd name="connsiteX3" fmla="*/ 7507400 w 7507400"/>
              <a:gd name="connsiteY3" fmla="*/ 875071 h 3166385"/>
              <a:gd name="connsiteX4" fmla="*/ 2083578 w 7507400"/>
              <a:gd name="connsiteY4" fmla="*/ 0 h 3166385"/>
              <a:gd name="connsiteX5" fmla="*/ 2023081 w 7507400"/>
              <a:gd name="connsiteY5" fmla="*/ 5468 h 3166385"/>
              <a:gd name="connsiteX6" fmla="*/ 1865374 w 7507400"/>
              <a:gd name="connsiteY6" fmla="*/ 76313 h 3166385"/>
              <a:gd name="connsiteX7" fmla="*/ 1634010 w 7507400"/>
              <a:gd name="connsiteY7" fmla="*/ 119359 h 3166385"/>
              <a:gd name="connsiteX8" fmla="*/ 1388186 w 7507400"/>
              <a:gd name="connsiteY8" fmla="*/ 130121 h 3166385"/>
              <a:gd name="connsiteX9" fmla="*/ 1330344 w 7507400"/>
              <a:gd name="connsiteY9" fmla="*/ 198275 h 3166385"/>
              <a:gd name="connsiteX10" fmla="*/ 1406262 w 7507400"/>
              <a:gd name="connsiteY10" fmla="*/ 270018 h 3166385"/>
              <a:gd name="connsiteX11" fmla="*/ 1521942 w 7507400"/>
              <a:gd name="connsiteY11" fmla="*/ 277191 h 3166385"/>
              <a:gd name="connsiteX12" fmla="*/ 2212420 w 7507400"/>
              <a:gd name="connsiteY12" fmla="*/ 295128 h 3166385"/>
              <a:gd name="connsiteX13" fmla="*/ 0 w 7507400"/>
              <a:gd name="connsiteY13" fmla="*/ 452960 h 3166385"/>
              <a:gd name="connsiteX14" fmla="*/ 300051 w 7507400"/>
              <a:gd name="connsiteY14" fmla="*/ 549813 h 3166385"/>
              <a:gd name="connsiteX15" fmla="*/ 401272 w 7507400"/>
              <a:gd name="connsiteY15" fmla="*/ 815258 h 3166385"/>
              <a:gd name="connsiteX16" fmla="*/ 770008 w 7507400"/>
              <a:gd name="connsiteY16" fmla="*/ 965917 h 3166385"/>
              <a:gd name="connsiteX17" fmla="*/ 1008605 w 7507400"/>
              <a:gd name="connsiteY17" fmla="*/ 1019724 h 3166385"/>
              <a:gd name="connsiteX18" fmla="*/ 1554478 w 7507400"/>
              <a:gd name="connsiteY18" fmla="*/ 1098641 h 3166385"/>
              <a:gd name="connsiteX19" fmla="*/ 1634010 w 7507400"/>
              <a:gd name="connsiteY19" fmla="*/ 1227777 h 3166385"/>
              <a:gd name="connsiteX20" fmla="*/ 1702696 w 7507400"/>
              <a:gd name="connsiteY20" fmla="*/ 1371261 h 3166385"/>
              <a:gd name="connsiteX21" fmla="*/ 1847299 w 7507400"/>
              <a:gd name="connsiteY21" fmla="*/ 1464526 h 3166385"/>
              <a:gd name="connsiteX22" fmla="*/ 723015 w 7507400"/>
              <a:gd name="connsiteY22" fmla="*/ 1450177 h 3166385"/>
              <a:gd name="connsiteX23" fmla="*/ 1991901 w 7507400"/>
              <a:gd name="connsiteY23" fmla="*/ 1751495 h 3166385"/>
              <a:gd name="connsiteX24" fmla="*/ 1879835 w 7507400"/>
              <a:gd name="connsiteY24" fmla="*/ 1869870 h 3166385"/>
              <a:gd name="connsiteX25" fmla="*/ 2573927 w 7507400"/>
              <a:gd name="connsiteY25" fmla="*/ 2031290 h 3166385"/>
              <a:gd name="connsiteX26" fmla="*/ 2201575 w 7507400"/>
              <a:gd name="connsiteY26" fmla="*/ 2049225 h 3166385"/>
              <a:gd name="connsiteX27" fmla="*/ 4367000 w 7507400"/>
              <a:gd name="connsiteY27" fmla="*/ 2723602 h 3166385"/>
              <a:gd name="connsiteX28" fmla="*/ 5497485 w 7507400"/>
              <a:gd name="connsiteY28" fmla="*/ 2912009 h 3166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507400" h="3166385">
                <a:moveTo>
                  <a:pt x="5497485" y="2912009"/>
                </a:moveTo>
                <a:cubicBezTo>
                  <a:pt x="6033497" y="2998226"/>
                  <a:pt x="6619155" y="3089592"/>
                  <a:pt x="7034681" y="3151263"/>
                </a:cubicBezTo>
                <a:lnTo>
                  <a:pt x="7137723" y="3166385"/>
                </a:lnTo>
                <a:lnTo>
                  <a:pt x="7507400" y="875071"/>
                </a:lnTo>
                <a:lnTo>
                  <a:pt x="2083578" y="0"/>
                </a:lnTo>
                <a:lnTo>
                  <a:pt x="2023081" y="5468"/>
                </a:lnTo>
                <a:cubicBezTo>
                  <a:pt x="1965692" y="12642"/>
                  <a:pt x="1910562" y="27887"/>
                  <a:pt x="1865374" y="76313"/>
                </a:cubicBezTo>
                <a:cubicBezTo>
                  <a:pt x="1796688" y="151642"/>
                  <a:pt x="1724387" y="162404"/>
                  <a:pt x="1634010" y="119359"/>
                </a:cubicBezTo>
                <a:cubicBezTo>
                  <a:pt x="1554478" y="79900"/>
                  <a:pt x="1467718" y="90662"/>
                  <a:pt x="1388186" y="130121"/>
                </a:cubicBezTo>
                <a:cubicBezTo>
                  <a:pt x="1359266" y="144469"/>
                  <a:pt x="1330344" y="162404"/>
                  <a:pt x="1330344" y="198275"/>
                </a:cubicBezTo>
                <a:cubicBezTo>
                  <a:pt x="1330344" y="248495"/>
                  <a:pt x="1366496" y="262843"/>
                  <a:pt x="1406262" y="270018"/>
                </a:cubicBezTo>
                <a:cubicBezTo>
                  <a:pt x="1442412" y="277191"/>
                  <a:pt x="1485792" y="284366"/>
                  <a:pt x="1521942" y="277191"/>
                </a:cubicBezTo>
                <a:cubicBezTo>
                  <a:pt x="1753307" y="237734"/>
                  <a:pt x="1981057" y="302301"/>
                  <a:pt x="2212420" y="295128"/>
                </a:cubicBezTo>
                <a:cubicBezTo>
                  <a:pt x="1485792" y="449373"/>
                  <a:pt x="751934" y="399154"/>
                  <a:pt x="0" y="452960"/>
                </a:cubicBezTo>
                <a:cubicBezTo>
                  <a:pt x="97608" y="560573"/>
                  <a:pt x="224135" y="470896"/>
                  <a:pt x="300051" y="549813"/>
                </a:cubicBezTo>
                <a:cubicBezTo>
                  <a:pt x="227750" y="714820"/>
                  <a:pt x="256671" y="804497"/>
                  <a:pt x="401272" y="815258"/>
                </a:cubicBezTo>
                <a:cubicBezTo>
                  <a:pt x="542261" y="826019"/>
                  <a:pt x="694093" y="768625"/>
                  <a:pt x="770008" y="965917"/>
                </a:cubicBezTo>
                <a:cubicBezTo>
                  <a:pt x="791699" y="1026898"/>
                  <a:pt x="925458" y="1008963"/>
                  <a:pt x="1008605" y="1019724"/>
                </a:cubicBezTo>
                <a:cubicBezTo>
                  <a:pt x="1189357" y="1044833"/>
                  <a:pt x="1380957" y="1019724"/>
                  <a:pt x="1554478" y="1098641"/>
                </a:cubicBezTo>
                <a:cubicBezTo>
                  <a:pt x="1623165" y="1127337"/>
                  <a:pt x="1670160" y="1148860"/>
                  <a:pt x="1634010" y="1227777"/>
                </a:cubicBezTo>
                <a:cubicBezTo>
                  <a:pt x="1597859" y="1310280"/>
                  <a:pt x="1644855" y="1338976"/>
                  <a:pt x="1702696" y="1371261"/>
                </a:cubicBezTo>
                <a:cubicBezTo>
                  <a:pt x="1746077" y="1396370"/>
                  <a:pt x="1811148" y="1389197"/>
                  <a:pt x="1847299" y="1464526"/>
                </a:cubicBezTo>
                <a:cubicBezTo>
                  <a:pt x="1467717" y="1453764"/>
                  <a:pt x="1098981" y="1392783"/>
                  <a:pt x="723015" y="1450177"/>
                </a:cubicBezTo>
                <a:cubicBezTo>
                  <a:pt x="1135131" y="1593662"/>
                  <a:pt x="1587014" y="1586487"/>
                  <a:pt x="1991901" y="1751495"/>
                </a:cubicBezTo>
                <a:cubicBezTo>
                  <a:pt x="1977441" y="1808889"/>
                  <a:pt x="1883449" y="1783778"/>
                  <a:pt x="1879835" y="1869870"/>
                </a:cubicBezTo>
                <a:cubicBezTo>
                  <a:pt x="2093123" y="1959548"/>
                  <a:pt x="2349794" y="1898566"/>
                  <a:pt x="2573927" y="2031290"/>
                </a:cubicBezTo>
                <a:cubicBezTo>
                  <a:pt x="2443785" y="2092271"/>
                  <a:pt x="2324488" y="1991831"/>
                  <a:pt x="2201575" y="2049225"/>
                </a:cubicBezTo>
                <a:cubicBezTo>
                  <a:pt x="2241342" y="2135316"/>
                  <a:pt x="4041644" y="2666208"/>
                  <a:pt x="4367000" y="2723602"/>
                </a:cubicBezTo>
                <a:cubicBezTo>
                  <a:pt x="4615085" y="2767993"/>
                  <a:pt x="5038048" y="2838109"/>
                  <a:pt x="5497485" y="2912009"/>
                </a:cubicBezTo>
                <a:close/>
              </a:path>
            </a:pathLst>
          </a:custGeom>
          <a:solidFill>
            <a:schemeClr val="bg2">
              <a:alpha val="5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E7DF8DD7-B513-8B10-C94E-C0B07918EDF2}"/>
              </a:ext>
            </a:extLst>
          </p:cNvPr>
          <p:cNvSpPr>
            <a:spLocks noGrp="1"/>
          </p:cNvSpPr>
          <p:nvPr>
            <p:ph type="ctrTitle"/>
          </p:nvPr>
        </p:nvSpPr>
        <p:spPr>
          <a:xfrm>
            <a:off x="5751094" y="1058780"/>
            <a:ext cx="5602705" cy="3092116"/>
          </a:xfrm>
        </p:spPr>
        <p:txBody>
          <a:bodyPr anchor="ctr">
            <a:normAutofit/>
          </a:bodyPr>
          <a:lstStyle/>
          <a:p>
            <a:pPr algn="l"/>
            <a:r>
              <a:rPr lang="en-CA" sz="4400"/>
              <a:t>Replication of Roberts et al.’s “Structural Topic Models for Open-Ended Survey Responses”</a:t>
            </a:r>
          </a:p>
        </p:txBody>
      </p:sp>
      <p:sp>
        <p:nvSpPr>
          <p:cNvPr id="3" name="Subtitle 2">
            <a:extLst>
              <a:ext uri="{FF2B5EF4-FFF2-40B4-BE49-F238E27FC236}">
                <a16:creationId xmlns:a16="http://schemas.microsoft.com/office/drawing/2014/main" id="{BC0CDBC4-3D51-2829-F856-C4E5950FA38B}"/>
              </a:ext>
            </a:extLst>
          </p:cNvPr>
          <p:cNvSpPr>
            <a:spLocks noGrp="1"/>
          </p:cNvSpPr>
          <p:nvPr>
            <p:ph type="subTitle" idx="1"/>
          </p:nvPr>
        </p:nvSpPr>
        <p:spPr>
          <a:xfrm>
            <a:off x="838200" y="5041616"/>
            <a:ext cx="3781926" cy="1246472"/>
          </a:xfrm>
        </p:spPr>
        <p:txBody>
          <a:bodyPr anchor="ctr">
            <a:normAutofit/>
          </a:bodyPr>
          <a:lstStyle/>
          <a:p>
            <a:pPr algn="l"/>
            <a:r>
              <a:rPr lang="en-CA"/>
              <a:t>Kaylynn Driggers</a:t>
            </a:r>
          </a:p>
        </p:txBody>
      </p:sp>
    </p:spTree>
    <p:extLst>
      <p:ext uri="{BB962C8B-B14F-4D97-AF65-F5344CB8AC3E}">
        <p14:creationId xmlns:p14="http://schemas.microsoft.com/office/powerpoint/2010/main" val="3559796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511704"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A7D37AC0-9CF2-B4F1-DDBB-64F703A83ABF}"/>
              </a:ext>
            </a:extLst>
          </p:cNvPr>
          <p:cNvSpPr>
            <a:spLocks noGrp="1"/>
          </p:cNvSpPr>
          <p:nvPr>
            <p:ph type="title"/>
          </p:nvPr>
        </p:nvSpPr>
        <p:spPr>
          <a:xfrm>
            <a:off x="838200" y="713312"/>
            <a:ext cx="4038600" cy="5431376"/>
          </a:xfrm>
        </p:spPr>
        <p:txBody>
          <a:bodyPr>
            <a:normAutofit/>
          </a:bodyPr>
          <a:lstStyle/>
          <a:p>
            <a:r>
              <a:rPr lang="en-CA" dirty="0"/>
              <a:t>Introduction</a:t>
            </a:r>
          </a:p>
        </p:txBody>
      </p:sp>
      <p:sp>
        <p:nvSpPr>
          <p:cNvPr id="3" name="Content Placeholder 2">
            <a:extLst>
              <a:ext uri="{FF2B5EF4-FFF2-40B4-BE49-F238E27FC236}">
                <a16:creationId xmlns:a16="http://schemas.microsoft.com/office/drawing/2014/main" id="{E9FC1177-64E5-7F00-8B68-D0378A48A742}"/>
              </a:ext>
            </a:extLst>
          </p:cNvPr>
          <p:cNvSpPr>
            <a:spLocks noGrp="1"/>
          </p:cNvSpPr>
          <p:nvPr>
            <p:ph idx="1"/>
          </p:nvPr>
        </p:nvSpPr>
        <p:spPr>
          <a:xfrm>
            <a:off x="6095999" y="713313"/>
            <a:ext cx="5257801" cy="5431376"/>
          </a:xfrm>
        </p:spPr>
        <p:txBody>
          <a:bodyPr anchor="ctr">
            <a:normAutofit/>
          </a:bodyPr>
          <a:lstStyle/>
          <a:p>
            <a:r>
              <a:rPr lang="en-CA" sz="2000" dirty="0"/>
              <a:t>Problem: Open-ended survey responses are rarely analyzed in political science because they are expensive to code and usually rely on human coders</a:t>
            </a:r>
          </a:p>
          <a:p>
            <a:r>
              <a:rPr lang="en-CA" sz="2000" dirty="0"/>
              <a:t>Roberts et al. (2014) argue that STM offers a semiautomated alternative that can incorporate covariates (party, gender, treatment assignment) and can create topics and estimate treatment effects. </a:t>
            </a:r>
          </a:p>
          <a:p>
            <a:r>
              <a:rPr lang="en-CA" sz="2000" dirty="0"/>
              <a:t>Paper tries to show that open-ended responses can be analyzed systematically, which makes text analysis more efficient. </a:t>
            </a:r>
          </a:p>
          <a:p>
            <a:endParaRPr lang="en-CA" sz="2000" dirty="0"/>
          </a:p>
        </p:txBody>
      </p:sp>
    </p:spTree>
    <p:extLst>
      <p:ext uri="{BB962C8B-B14F-4D97-AF65-F5344CB8AC3E}">
        <p14:creationId xmlns:p14="http://schemas.microsoft.com/office/powerpoint/2010/main" val="1938137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A8AAC95-3719-4BCD-B710-4160043D92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73A6D7BA-50E4-42FE-A0E3-FC42B7EC43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2767722"/>
            <a:ext cx="3021543" cy="1532055"/>
          </a:xfrm>
          <a:custGeom>
            <a:avLst/>
            <a:gdLst>
              <a:gd name="connsiteX0" fmla="*/ 3021543 w 3021543"/>
              <a:gd name="connsiteY0" fmla="*/ 0 h 1532055"/>
              <a:gd name="connsiteX1" fmla="*/ 2963800 w 3021543"/>
              <a:gd name="connsiteY1" fmla="*/ 7730 h 1532055"/>
              <a:gd name="connsiteX2" fmla="*/ 2793803 w 3021543"/>
              <a:gd name="connsiteY2" fmla="*/ 25704 h 1532055"/>
              <a:gd name="connsiteX3" fmla="*/ 2414348 w 3021543"/>
              <a:gd name="connsiteY3" fmla="*/ 31695 h 1532055"/>
              <a:gd name="connsiteX4" fmla="*/ 2091558 w 3021543"/>
              <a:gd name="connsiteY4" fmla="*/ 29298 h 1532055"/>
              <a:gd name="connsiteX5" fmla="*/ 1645319 w 3021543"/>
              <a:gd name="connsiteY5" fmla="*/ 30497 h 1532055"/>
              <a:gd name="connsiteX6" fmla="*/ 1243602 w 3021543"/>
              <a:gd name="connsiteY6" fmla="*/ 64048 h 1532055"/>
              <a:gd name="connsiteX7" fmla="*/ 753851 w 3021543"/>
              <a:gd name="connsiteY7" fmla="*/ 61651 h 1532055"/>
              <a:gd name="connsiteX8" fmla="*/ 465465 w 3021543"/>
              <a:gd name="connsiteY8" fmla="*/ 123960 h 1532055"/>
              <a:gd name="connsiteX9" fmla="*/ 546416 w 3021543"/>
              <a:gd name="connsiteY9" fmla="*/ 145529 h 1532055"/>
              <a:gd name="connsiteX10" fmla="*/ 689091 w 3021543"/>
              <a:gd name="connsiteY10" fmla="*/ 192260 h 1532055"/>
              <a:gd name="connsiteX11" fmla="*/ 704269 w 3021543"/>
              <a:gd name="connsiteY11" fmla="*/ 222217 h 1532055"/>
              <a:gd name="connsiteX12" fmla="*/ 683020 w 3021543"/>
              <a:gd name="connsiteY12" fmla="*/ 236595 h 1532055"/>
              <a:gd name="connsiteX13" fmla="*/ 621295 w 3021543"/>
              <a:gd name="connsiteY13" fmla="*/ 264155 h 1532055"/>
              <a:gd name="connsiteX14" fmla="*/ 848968 w 3021543"/>
              <a:gd name="connsiteY14" fmla="*/ 304896 h 1532055"/>
              <a:gd name="connsiteX15" fmla="*/ 768018 w 3021543"/>
              <a:gd name="connsiteY15" fmla="*/ 330059 h 1532055"/>
              <a:gd name="connsiteX16" fmla="*/ 684032 w 3021543"/>
              <a:gd name="connsiteY16" fmla="*/ 348032 h 1532055"/>
              <a:gd name="connsiteX17" fmla="*/ 592962 w 3021543"/>
              <a:gd name="connsiteY17" fmla="*/ 361213 h 1532055"/>
              <a:gd name="connsiteX18" fmla="*/ 509988 w 3021543"/>
              <a:gd name="connsiteY18" fmla="*/ 387575 h 1532055"/>
              <a:gd name="connsiteX19" fmla="*/ 726531 w 3021543"/>
              <a:gd name="connsiteY19" fmla="*/ 398359 h 1532055"/>
              <a:gd name="connsiteX20" fmla="*/ 614212 w 3021543"/>
              <a:gd name="connsiteY20" fmla="*/ 422324 h 1532055"/>
              <a:gd name="connsiteX21" fmla="*/ 522131 w 3021543"/>
              <a:gd name="connsiteY21" fmla="*/ 453478 h 1532055"/>
              <a:gd name="connsiteX22" fmla="*/ 457370 w 3021543"/>
              <a:gd name="connsiteY22" fmla="*/ 467857 h 1532055"/>
              <a:gd name="connsiteX23" fmla="*/ 388562 w 3021543"/>
              <a:gd name="connsiteY23" fmla="*/ 471452 h 1532055"/>
              <a:gd name="connsiteX24" fmla="*/ 372372 w 3021543"/>
              <a:gd name="connsiteY24" fmla="*/ 494218 h 1532055"/>
              <a:gd name="connsiteX25" fmla="*/ 393622 w 3021543"/>
              <a:gd name="connsiteY25" fmla="*/ 518184 h 1532055"/>
              <a:gd name="connsiteX26" fmla="*/ 426002 w 3021543"/>
              <a:gd name="connsiteY26" fmla="*/ 520580 h 1532055"/>
              <a:gd name="connsiteX27" fmla="*/ 619271 w 3021543"/>
              <a:gd name="connsiteY27" fmla="*/ 526571 h 1532055"/>
              <a:gd name="connsiteX28" fmla="*/ 0 w 3021543"/>
              <a:gd name="connsiteY28" fmla="*/ 579294 h 1532055"/>
              <a:gd name="connsiteX29" fmla="*/ 83986 w 3021543"/>
              <a:gd name="connsiteY29" fmla="*/ 611647 h 1532055"/>
              <a:gd name="connsiteX30" fmla="*/ 112319 w 3021543"/>
              <a:gd name="connsiteY30" fmla="*/ 700317 h 1532055"/>
              <a:gd name="connsiteX31" fmla="*/ 215531 w 3021543"/>
              <a:gd name="connsiteY31" fmla="*/ 750643 h 1532055"/>
              <a:gd name="connsiteX32" fmla="*/ 282315 w 3021543"/>
              <a:gd name="connsiteY32" fmla="*/ 768617 h 1532055"/>
              <a:gd name="connsiteX33" fmla="*/ 435109 w 3021543"/>
              <a:gd name="connsiteY33" fmla="*/ 794979 h 1532055"/>
              <a:gd name="connsiteX34" fmla="*/ 457370 w 3021543"/>
              <a:gd name="connsiteY34" fmla="*/ 838116 h 1532055"/>
              <a:gd name="connsiteX35" fmla="*/ 476596 w 3021543"/>
              <a:gd name="connsiteY35" fmla="*/ 886046 h 1532055"/>
              <a:gd name="connsiteX36" fmla="*/ 517071 w 3021543"/>
              <a:gd name="connsiteY36" fmla="*/ 917200 h 1532055"/>
              <a:gd name="connsiteX37" fmla="*/ 202377 w 3021543"/>
              <a:gd name="connsiteY37" fmla="*/ 912407 h 1532055"/>
              <a:gd name="connsiteX38" fmla="*/ 557546 w 3021543"/>
              <a:gd name="connsiteY38" fmla="*/ 1013060 h 1532055"/>
              <a:gd name="connsiteX39" fmla="*/ 526178 w 3021543"/>
              <a:gd name="connsiteY39" fmla="*/ 1052602 h 1532055"/>
              <a:gd name="connsiteX40" fmla="*/ 720459 w 3021543"/>
              <a:gd name="connsiteY40" fmla="*/ 1106523 h 1532055"/>
              <a:gd name="connsiteX41" fmla="*/ 616236 w 3021543"/>
              <a:gd name="connsiteY41" fmla="*/ 1112514 h 1532055"/>
              <a:gd name="connsiteX42" fmla="*/ 1222353 w 3021543"/>
              <a:gd name="connsiteY42" fmla="*/ 1337785 h 1532055"/>
              <a:gd name="connsiteX43" fmla="*/ 2087511 w 3021543"/>
              <a:gd name="connsiteY43" fmla="*/ 1500747 h 1532055"/>
              <a:gd name="connsiteX44" fmla="*/ 2425479 w 3021543"/>
              <a:gd name="connsiteY44" fmla="*/ 1531901 h 1532055"/>
              <a:gd name="connsiteX45" fmla="*/ 2809994 w 3021543"/>
              <a:gd name="connsiteY45" fmla="*/ 1522315 h 1532055"/>
              <a:gd name="connsiteX46" fmla="*/ 2953618 w 3021543"/>
              <a:gd name="connsiteY46" fmla="*/ 1512448 h 1532055"/>
              <a:gd name="connsiteX47" fmla="*/ 3021543 w 3021543"/>
              <a:gd name="connsiteY47" fmla="*/ 1502657 h 1532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532055">
                <a:moveTo>
                  <a:pt x="3021543" y="0"/>
                </a:moveTo>
                <a:lnTo>
                  <a:pt x="2963800" y="7730"/>
                </a:lnTo>
                <a:cubicBezTo>
                  <a:pt x="2907134" y="14919"/>
                  <a:pt x="2850469" y="24506"/>
                  <a:pt x="2793803" y="25704"/>
                </a:cubicBezTo>
                <a:cubicBezTo>
                  <a:pt x="2667318" y="29298"/>
                  <a:pt x="2539821" y="20911"/>
                  <a:pt x="2414348" y="31695"/>
                </a:cubicBezTo>
                <a:cubicBezTo>
                  <a:pt x="2307089" y="41281"/>
                  <a:pt x="2198818" y="30497"/>
                  <a:pt x="2091558" y="29298"/>
                </a:cubicBezTo>
                <a:cubicBezTo>
                  <a:pt x="1942812" y="28100"/>
                  <a:pt x="1793053" y="19713"/>
                  <a:pt x="1645319" y="30497"/>
                </a:cubicBezTo>
                <a:cubicBezTo>
                  <a:pt x="1510738" y="38885"/>
                  <a:pt x="1376158" y="41281"/>
                  <a:pt x="1243602" y="64048"/>
                </a:cubicBezTo>
                <a:cubicBezTo>
                  <a:pt x="1079677" y="76030"/>
                  <a:pt x="916765" y="68841"/>
                  <a:pt x="753851" y="61651"/>
                </a:cubicBezTo>
                <a:cubicBezTo>
                  <a:pt x="653675" y="56858"/>
                  <a:pt x="554511" y="41281"/>
                  <a:pt x="465465" y="123960"/>
                </a:cubicBezTo>
                <a:cubicBezTo>
                  <a:pt x="489751" y="143132"/>
                  <a:pt x="519095" y="139537"/>
                  <a:pt x="546416" y="145529"/>
                </a:cubicBezTo>
                <a:cubicBezTo>
                  <a:pt x="594986" y="157511"/>
                  <a:pt x="643557" y="169493"/>
                  <a:pt x="689091" y="192260"/>
                </a:cubicBezTo>
                <a:cubicBezTo>
                  <a:pt x="699210" y="197053"/>
                  <a:pt x="708317" y="206639"/>
                  <a:pt x="704269" y="222217"/>
                </a:cubicBezTo>
                <a:cubicBezTo>
                  <a:pt x="701234" y="234199"/>
                  <a:pt x="691115" y="234199"/>
                  <a:pt x="683020" y="236595"/>
                </a:cubicBezTo>
                <a:cubicBezTo>
                  <a:pt x="664806" y="243785"/>
                  <a:pt x="642545" y="238992"/>
                  <a:pt x="621295" y="264155"/>
                </a:cubicBezTo>
                <a:cubicBezTo>
                  <a:pt x="702245" y="277336"/>
                  <a:pt x="780160" y="252172"/>
                  <a:pt x="848968" y="304896"/>
                </a:cubicBezTo>
                <a:cubicBezTo>
                  <a:pt x="823671" y="331257"/>
                  <a:pt x="795339" y="325266"/>
                  <a:pt x="768018" y="330059"/>
                </a:cubicBezTo>
                <a:cubicBezTo>
                  <a:pt x="739685" y="334852"/>
                  <a:pt x="712365" y="343240"/>
                  <a:pt x="684032" y="348032"/>
                </a:cubicBezTo>
                <a:cubicBezTo>
                  <a:pt x="653675" y="354023"/>
                  <a:pt x="623319" y="355222"/>
                  <a:pt x="592962" y="361213"/>
                </a:cubicBezTo>
                <a:cubicBezTo>
                  <a:pt x="567666" y="366006"/>
                  <a:pt x="540345" y="357618"/>
                  <a:pt x="509988" y="387575"/>
                </a:cubicBezTo>
                <a:cubicBezTo>
                  <a:pt x="584867" y="409143"/>
                  <a:pt x="652663" y="376790"/>
                  <a:pt x="726531" y="398359"/>
                </a:cubicBezTo>
                <a:cubicBezTo>
                  <a:pt x="683020" y="417531"/>
                  <a:pt x="647604" y="411539"/>
                  <a:pt x="614212" y="422324"/>
                </a:cubicBezTo>
                <a:cubicBezTo>
                  <a:pt x="583855" y="433108"/>
                  <a:pt x="547428" y="421126"/>
                  <a:pt x="522131" y="453478"/>
                </a:cubicBezTo>
                <a:cubicBezTo>
                  <a:pt x="502905" y="478641"/>
                  <a:pt x="482668" y="482236"/>
                  <a:pt x="457370" y="467857"/>
                </a:cubicBezTo>
                <a:cubicBezTo>
                  <a:pt x="435109" y="454676"/>
                  <a:pt x="410824" y="458271"/>
                  <a:pt x="388562" y="471452"/>
                </a:cubicBezTo>
                <a:cubicBezTo>
                  <a:pt x="380468" y="476245"/>
                  <a:pt x="372372" y="482236"/>
                  <a:pt x="372372" y="494218"/>
                </a:cubicBezTo>
                <a:cubicBezTo>
                  <a:pt x="372372" y="510994"/>
                  <a:pt x="382491" y="515787"/>
                  <a:pt x="393622" y="518184"/>
                </a:cubicBezTo>
                <a:cubicBezTo>
                  <a:pt x="403741" y="520580"/>
                  <a:pt x="415883" y="522977"/>
                  <a:pt x="426002" y="520580"/>
                </a:cubicBezTo>
                <a:cubicBezTo>
                  <a:pt x="490762" y="507399"/>
                  <a:pt x="554511" y="528968"/>
                  <a:pt x="619271" y="526571"/>
                </a:cubicBezTo>
                <a:cubicBezTo>
                  <a:pt x="415883" y="578096"/>
                  <a:pt x="210471" y="561321"/>
                  <a:pt x="0" y="579294"/>
                </a:cubicBezTo>
                <a:cubicBezTo>
                  <a:pt x="27321" y="615241"/>
                  <a:pt x="62737" y="585286"/>
                  <a:pt x="83986" y="611647"/>
                </a:cubicBezTo>
                <a:cubicBezTo>
                  <a:pt x="63748" y="666766"/>
                  <a:pt x="71844" y="696722"/>
                  <a:pt x="112319" y="700317"/>
                </a:cubicBezTo>
                <a:cubicBezTo>
                  <a:pt x="151782" y="703912"/>
                  <a:pt x="194281" y="684740"/>
                  <a:pt x="215531" y="750643"/>
                </a:cubicBezTo>
                <a:cubicBezTo>
                  <a:pt x="221602" y="771014"/>
                  <a:pt x="259042" y="765023"/>
                  <a:pt x="282315" y="768617"/>
                </a:cubicBezTo>
                <a:cubicBezTo>
                  <a:pt x="332909" y="777005"/>
                  <a:pt x="386539" y="768617"/>
                  <a:pt x="435109" y="794979"/>
                </a:cubicBezTo>
                <a:cubicBezTo>
                  <a:pt x="454335" y="804565"/>
                  <a:pt x="467489" y="811754"/>
                  <a:pt x="457370" y="838116"/>
                </a:cubicBezTo>
                <a:cubicBezTo>
                  <a:pt x="447252" y="865675"/>
                  <a:pt x="460406" y="875261"/>
                  <a:pt x="476596" y="886046"/>
                </a:cubicBezTo>
                <a:cubicBezTo>
                  <a:pt x="488739" y="894433"/>
                  <a:pt x="506953" y="892037"/>
                  <a:pt x="517071" y="917200"/>
                </a:cubicBezTo>
                <a:cubicBezTo>
                  <a:pt x="410824" y="913605"/>
                  <a:pt x="307612" y="893235"/>
                  <a:pt x="202377" y="912407"/>
                </a:cubicBezTo>
                <a:cubicBezTo>
                  <a:pt x="317731" y="960337"/>
                  <a:pt x="444216" y="957940"/>
                  <a:pt x="557546" y="1013060"/>
                </a:cubicBezTo>
                <a:cubicBezTo>
                  <a:pt x="553499" y="1032232"/>
                  <a:pt x="527190" y="1023844"/>
                  <a:pt x="526178" y="1052602"/>
                </a:cubicBezTo>
                <a:cubicBezTo>
                  <a:pt x="585879" y="1082558"/>
                  <a:pt x="657723" y="1062188"/>
                  <a:pt x="720459" y="1106523"/>
                </a:cubicBezTo>
                <a:cubicBezTo>
                  <a:pt x="684032" y="1126893"/>
                  <a:pt x="650640" y="1093342"/>
                  <a:pt x="616236" y="1112514"/>
                </a:cubicBezTo>
                <a:cubicBezTo>
                  <a:pt x="627367" y="1141273"/>
                  <a:pt x="1131283" y="1318613"/>
                  <a:pt x="1222353" y="1337785"/>
                </a:cubicBezTo>
                <a:cubicBezTo>
                  <a:pt x="1407527" y="1377327"/>
                  <a:pt x="1940788" y="1477980"/>
                  <a:pt x="2087511" y="1500747"/>
                </a:cubicBezTo>
                <a:cubicBezTo>
                  <a:pt x="2200841" y="1517522"/>
                  <a:pt x="2313160" y="1530703"/>
                  <a:pt x="2425479" y="1531901"/>
                </a:cubicBezTo>
                <a:cubicBezTo>
                  <a:pt x="2553988" y="1533099"/>
                  <a:pt x="2681485" y="1527108"/>
                  <a:pt x="2809994" y="1522315"/>
                </a:cubicBezTo>
                <a:cubicBezTo>
                  <a:pt x="2858058" y="1520518"/>
                  <a:pt x="2905933" y="1517372"/>
                  <a:pt x="2953618" y="1512448"/>
                </a:cubicBezTo>
                <a:lnTo>
                  <a:pt x="3021543" y="1502657"/>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978CC19E-5F27-313B-27B1-8282E6253934}"/>
              </a:ext>
            </a:extLst>
          </p:cNvPr>
          <p:cNvSpPr>
            <a:spLocks noGrp="1"/>
          </p:cNvSpPr>
          <p:nvPr>
            <p:ph type="title"/>
          </p:nvPr>
        </p:nvSpPr>
        <p:spPr>
          <a:xfrm>
            <a:off x="838200" y="838199"/>
            <a:ext cx="4191000" cy="5338763"/>
          </a:xfrm>
        </p:spPr>
        <p:txBody>
          <a:bodyPr>
            <a:normAutofit/>
          </a:bodyPr>
          <a:lstStyle/>
          <a:p>
            <a:r>
              <a:rPr lang="en-CA" dirty="0"/>
              <a:t>Methods</a:t>
            </a:r>
          </a:p>
        </p:txBody>
      </p:sp>
      <p:sp>
        <p:nvSpPr>
          <p:cNvPr id="3" name="Content Placeholder 2">
            <a:extLst>
              <a:ext uri="{FF2B5EF4-FFF2-40B4-BE49-F238E27FC236}">
                <a16:creationId xmlns:a16="http://schemas.microsoft.com/office/drawing/2014/main" id="{4C34A543-9977-1274-7B03-985A97D3406F}"/>
              </a:ext>
            </a:extLst>
          </p:cNvPr>
          <p:cNvSpPr>
            <a:spLocks noGrp="1"/>
          </p:cNvSpPr>
          <p:nvPr>
            <p:ph idx="1"/>
          </p:nvPr>
        </p:nvSpPr>
        <p:spPr>
          <a:xfrm>
            <a:off x="5302332" y="838199"/>
            <a:ext cx="6051468" cy="5338763"/>
          </a:xfrm>
        </p:spPr>
        <p:txBody>
          <a:bodyPr anchor="ctr">
            <a:normAutofit/>
          </a:bodyPr>
          <a:lstStyle/>
          <a:p>
            <a:r>
              <a:rPr lang="en-CA" sz="2000" dirty="0"/>
              <a:t>Authors used multiple datasets to test STM: </a:t>
            </a:r>
          </a:p>
          <a:p>
            <a:pPr lvl="1"/>
            <a:r>
              <a:rPr lang="en-CA" sz="1600" dirty="0" err="1"/>
              <a:t>Gadarian</a:t>
            </a:r>
            <a:r>
              <a:rPr lang="en-CA" sz="1600" dirty="0"/>
              <a:t> immigration experiment</a:t>
            </a:r>
          </a:p>
          <a:p>
            <a:pPr lvl="1"/>
            <a:r>
              <a:rPr lang="en-CA" sz="1600" dirty="0"/>
              <a:t>Rand public goods experiments</a:t>
            </a:r>
          </a:p>
          <a:p>
            <a:pPr lvl="1"/>
            <a:r>
              <a:rPr lang="en-CA" sz="1600" dirty="0"/>
              <a:t>ANES most important problem data</a:t>
            </a:r>
          </a:p>
          <a:p>
            <a:endParaRPr lang="en-CA" sz="2000" dirty="0"/>
          </a:p>
          <a:p>
            <a:r>
              <a:rPr lang="en-CA" sz="2000" dirty="0"/>
              <a:t>In using STM, the authors first used semantic coherence and exclusivity plots to determine best models and then inspected the content of the texts to check that the estimated topics were fitting. After multiple tries with candidate models, they chose the one that best fit. </a:t>
            </a:r>
          </a:p>
          <a:p>
            <a:endParaRPr lang="en-CA" sz="2000" dirty="0"/>
          </a:p>
        </p:txBody>
      </p:sp>
    </p:spTree>
    <p:extLst>
      <p:ext uri="{BB962C8B-B14F-4D97-AF65-F5344CB8AC3E}">
        <p14:creationId xmlns:p14="http://schemas.microsoft.com/office/powerpoint/2010/main" val="24944662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8733A-07FA-EBB2-4DF3-BBDFFB7C6D53}"/>
              </a:ext>
            </a:extLst>
          </p:cNvPr>
          <p:cNvSpPr>
            <a:spLocks noGrp="1"/>
          </p:cNvSpPr>
          <p:nvPr>
            <p:ph type="title"/>
          </p:nvPr>
        </p:nvSpPr>
        <p:spPr/>
        <p:txBody>
          <a:bodyPr/>
          <a:lstStyle/>
          <a:p>
            <a:r>
              <a:rPr lang="en-CA" dirty="0" err="1"/>
              <a:t>Gadarian</a:t>
            </a:r>
            <a:r>
              <a:rPr lang="en-CA" dirty="0"/>
              <a:t> Experiments: Figure 4: Vocab in Figures 1 and 2</a:t>
            </a:r>
          </a:p>
        </p:txBody>
      </p:sp>
      <p:pic>
        <p:nvPicPr>
          <p:cNvPr id="9" name="Picture 8">
            <a:extLst>
              <a:ext uri="{FF2B5EF4-FFF2-40B4-BE49-F238E27FC236}">
                <a16:creationId xmlns:a16="http://schemas.microsoft.com/office/drawing/2014/main" id="{8430561A-4457-AE27-4612-369B9481DFB3}"/>
              </a:ext>
            </a:extLst>
          </p:cNvPr>
          <p:cNvPicPr>
            <a:picLocks noChangeAspect="1"/>
          </p:cNvPicPr>
          <p:nvPr/>
        </p:nvPicPr>
        <p:blipFill>
          <a:blip r:embed="rId2"/>
          <a:stretch>
            <a:fillRect/>
          </a:stretch>
        </p:blipFill>
        <p:spPr>
          <a:xfrm>
            <a:off x="565292" y="1834994"/>
            <a:ext cx="4798278" cy="4124363"/>
          </a:xfrm>
          <a:prstGeom prst="rect">
            <a:avLst/>
          </a:prstGeom>
        </p:spPr>
      </p:pic>
      <p:pic>
        <p:nvPicPr>
          <p:cNvPr id="11" name="Picture 10">
            <a:extLst>
              <a:ext uri="{FF2B5EF4-FFF2-40B4-BE49-F238E27FC236}">
                <a16:creationId xmlns:a16="http://schemas.microsoft.com/office/drawing/2014/main" id="{6E461771-9B8E-609C-8341-8F70E515D2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3570" y="2713943"/>
            <a:ext cx="6490828" cy="3245414"/>
          </a:xfrm>
          <a:prstGeom prst="rect">
            <a:avLst/>
          </a:prstGeom>
        </p:spPr>
      </p:pic>
      <p:sp>
        <p:nvSpPr>
          <p:cNvPr id="3" name="TextBox 2">
            <a:extLst>
              <a:ext uri="{FF2B5EF4-FFF2-40B4-BE49-F238E27FC236}">
                <a16:creationId xmlns:a16="http://schemas.microsoft.com/office/drawing/2014/main" id="{26315AB9-3BF7-274D-503F-9A0F1B4D93D6}"/>
              </a:ext>
            </a:extLst>
          </p:cNvPr>
          <p:cNvSpPr txBox="1"/>
          <p:nvPr/>
        </p:nvSpPr>
        <p:spPr>
          <a:xfrm>
            <a:off x="6690360" y="5959357"/>
            <a:ext cx="3246120" cy="369332"/>
          </a:xfrm>
          <a:prstGeom prst="rect">
            <a:avLst/>
          </a:prstGeom>
          <a:noFill/>
        </p:spPr>
        <p:txBody>
          <a:bodyPr wrap="square" rtlCol="0">
            <a:spAutoFit/>
          </a:bodyPr>
          <a:lstStyle/>
          <a:p>
            <a:pPr algn="ctr"/>
            <a:r>
              <a:rPr lang="en-CA" dirty="0"/>
              <a:t>Replication</a:t>
            </a:r>
          </a:p>
        </p:txBody>
      </p:sp>
      <p:sp>
        <p:nvSpPr>
          <p:cNvPr id="4" name="TextBox 3">
            <a:extLst>
              <a:ext uri="{FF2B5EF4-FFF2-40B4-BE49-F238E27FC236}">
                <a16:creationId xmlns:a16="http://schemas.microsoft.com/office/drawing/2014/main" id="{420410B1-1FDB-4C7A-D9C0-3934ADBF261B}"/>
              </a:ext>
            </a:extLst>
          </p:cNvPr>
          <p:cNvSpPr txBox="1"/>
          <p:nvPr/>
        </p:nvSpPr>
        <p:spPr>
          <a:xfrm>
            <a:off x="1341371" y="6144023"/>
            <a:ext cx="3246120" cy="369332"/>
          </a:xfrm>
          <a:prstGeom prst="rect">
            <a:avLst/>
          </a:prstGeom>
          <a:noFill/>
        </p:spPr>
        <p:txBody>
          <a:bodyPr wrap="square" rtlCol="0">
            <a:spAutoFit/>
          </a:bodyPr>
          <a:lstStyle/>
          <a:p>
            <a:pPr algn="ctr"/>
            <a:r>
              <a:rPr lang="en-CA" dirty="0"/>
              <a:t>Original</a:t>
            </a:r>
          </a:p>
        </p:txBody>
      </p:sp>
    </p:spTree>
    <p:extLst>
      <p:ext uri="{BB962C8B-B14F-4D97-AF65-F5344CB8AC3E}">
        <p14:creationId xmlns:p14="http://schemas.microsoft.com/office/powerpoint/2010/main" val="1270483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DA21B-85BA-2B8B-3D6F-00255D6ED4A5}"/>
              </a:ext>
            </a:extLst>
          </p:cNvPr>
          <p:cNvSpPr>
            <a:spLocks noGrp="1"/>
          </p:cNvSpPr>
          <p:nvPr>
            <p:ph type="title"/>
          </p:nvPr>
        </p:nvSpPr>
        <p:spPr/>
        <p:txBody>
          <a:bodyPr/>
          <a:lstStyle/>
          <a:p>
            <a:r>
              <a:rPr lang="en-CA" dirty="0" err="1"/>
              <a:t>Gadarian</a:t>
            </a:r>
            <a:r>
              <a:rPr lang="en-CA" dirty="0"/>
              <a:t> Experiment: Figure 5: Representative Response From Topic 1</a:t>
            </a:r>
          </a:p>
        </p:txBody>
      </p:sp>
      <p:pic>
        <p:nvPicPr>
          <p:cNvPr id="5" name="Content Placeholder 4">
            <a:extLst>
              <a:ext uri="{FF2B5EF4-FFF2-40B4-BE49-F238E27FC236}">
                <a16:creationId xmlns:a16="http://schemas.microsoft.com/office/drawing/2014/main" id="{1B85DDFF-79C2-E0F0-D8EA-01A4B962696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76800" y="2749592"/>
            <a:ext cx="6949440" cy="3474720"/>
          </a:xfrm>
          <a:prstGeom prst="rect">
            <a:avLst/>
          </a:prstGeom>
        </p:spPr>
      </p:pic>
      <p:pic>
        <p:nvPicPr>
          <p:cNvPr id="7" name="Picture 6">
            <a:extLst>
              <a:ext uri="{FF2B5EF4-FFF2-40B4-BE49-F238E27FC236}">
                <a16:creationId xmlns:a16="http://schemas.microsoft.com/office/drawing/2014/main" id="{F0A4206E-9DDF-2D55-35F1-53C7D48FFBAC}"/>
              </a:ext>
            </a:extLst>
          </p:cNvPr>
          <p:cNvPicPr>
            <a:picLocks noChangeAspect="1"/>
          </p:cNvPicPr>
          <p:nvPr/>
        </p:nvPicPr>
        <p:blipFill>
          <a:blip r:embed="rId3"/>
          <a:stretch>
            <a:fillRect/>
          </a:stretch>
        </p:blipFill>
        <p:spPr>
          <a:xfrm>
            <a:off x="519586" y="2365432"/>
            <a:ext cx="4357214" cy="3527268"/>
          </a:xfrm>
          <a:prstGeom prst="rect">
            <a:avLst/>
          </a:prstGeom>
        </p:spPr>
      </p:pic>
      <p:sp>
        <p:nvSpPr>
          <p:cNvPr id="3" name="TextBox 2">
            <a:extLst>
              <a:ext uri="{FF2B5EF4-FFF2-40B4-BE49-F238E27FC236}">
                <a16:creationId xmlns:a16="http://schemas.microsoft.com/office/drawing/2014/main" id="{98CD0BAA-8E11-A203-EDF9-1CB7B7A77778}"/>
              </a:ext>
            </a:extLst>
          </p:cNvPr>
          <p:cNvSpPr txBox="1"/>
          <p:nvPr/>
        </p:nvSpPr>
        <p:spPr>
          <a:xfrm>
            <a:off x="1341371" y="6144023"/>
            <a:ext cx="3246120" cy="369332"/>
          </a:xfrm>
          <a:prstGeom prst="rect">
            <a:avLst/>
          </a:prstGeom>
          <a:noFill/>
        </p:spPr>
        <p:txBody>
          <a:bodyPr wrap="square" rtlCol="0">
            <a:spAutoFit/>
          </a:bodyPr>
          <a:lstStyle/>
          <a:p>
            <a:pPr algn="ctr"/>
            <a:r>
              <a:rPr lang="en-CA" dirty="0"/>
              <a:t>Original</a:t>
            </a:r>
          </a:p>
        </p:txBody>
      </p:sp>
      <p:sp>
        <p:nvSpPr>
          <p:cNvPr id="4" name="TextBox 3">
            <a:extLst>
              <a:ext uri="{FF2B5EF4-FFF2-40B4-BE49-F238E27FC236}">
                <a16:creationId xmlns:a16="http://schemas.microsoft.com/office/drawing/2014/main" id="{D6B23D26-5902-44C0-00CA-63932237C74C}"/>
              </a:ext>
            </a:extLst>
          </p:cNvPr>
          <p:cNvSpPr txBox="1"/>
          <p:nvPr/>
        </p:nvSpPr>
        <p:spPr>
          <a:xfrm>
            <a:off x="6911340" y="6039646"/>
            <a:ext cx="3246120" cy="369332"/>
          </a:xfrm>
          <a:prstGeom prst="rect">
            <a:avLst/>
          </a:prstGeom>
          <a:noFill/>
        </p:spPr>
        <p:txBody>
          <a:bodyPr wrap="square" rtlCol="0">
            <a:spAutoFit/>
          </a:bodyPr>
          <a:lstStyle/>
          <a:p>
            <a:pPr algn="ctr"/>
            <a:r>
              <a:rPr lang="en-CA" dirty="0"/>
              <a:t>Replication</a:t>
            </a:r>
          </a:p>
        </p:txBody>
      </p:sp>
    </p:spTree>
    <p:extLst>
      <p:ext uri="{BB962C8B-B14F-4D97-AF65-F5344CB8AC3E}">
        <p14:creationId xmlns:p14="http://schemas.microsoft.com/office/powerpoint/2010/main" val="230994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F1736-E571-503E-7123-3516CECD8346}"/>
              </a:ext>
            </a:extLst>
          </p:cNvPr>
          <p:cNvSpPr>
            <a:spLocks noGrp="1"/>
          </p:cNvSpPr>
          <p:nvPr>
            <p:ph type="title"/>
          </p:nvPr>
        </p:nvSpPr>
        <p:spPr/>
        <p:txBody>
          <a:bodyPr/>
          <a:lstStyle/>
          <a:p>
            <a:r>
              <a:rPr lang="en-CA" dirty="0" err="1"/>
              <a:t>Gadarian</a:t>
            </a:r>
            <a:r>
              <a:rPr lang="en-CA" dirty="0"/>
              <a:t> Experiment: Figure 6: Representative Response from Topic 2</a:t>
            </a:r>
          </a:p>
        </p:txBody>
      </p:sp>
      <p:pic>
        <p:nvPicPr>
          <p:cNvPr id="5" name="Content Placeholder 4">
            <a:extLst>
              <a:ext uri="{FF2B5EF4-FFF2-40B4-BE49-F238E27FC236}">
                <a16:creationId xmlns:a16="http://schemas.microsoft.com/office/drawing/2014/main" id="{C59CA368-AEAA-0CE3-52B8-9B020C67090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55920" y="2233433"/>
            <a:ext cx="6370320" cy="3185160"/>
          </a:xfrm>
          <a:prstGeom prst="rect">
            <a:avLst/>
          </a:prstGeom>
        </p:spPr>
      </p:pic>
      <p:pic>
        <p:nvPicPr>
          <p:cNvPr id="7" name="Picture 6">
            <a:extLst>
              <a:ext uri="{FF2B5EF4-FFF2-40B4-BE49-F238E27FC236}">
                <a16:creationId xmlns:a16="http://schemas.microsoft.com/office/drawing/2014/main" id="{93C15CBC-58C3-0CA2-B8B0-1A5621C6173E}"/>
              </a:ext>
            </a:extLst>
          </p:cNvPr>
          <p:cNvPicPr>
            <a:picLocks noChangeAspect="1"/>
          </p:cNvPicPr>
          <p:nvPr/>
        </p:nvPicPr>
        <p:blipFill>
          <a:blip r:embed="rId3"/>
          <a:stretch>
            <a:fillRect/>
          </a:stretch>
        </p:blipFill>
        <p:spPr>
          <a:xfrm>
            <a:off x="710795" y="2233433"/>
            <a:ext cx="3900972" cy="2933879"/>
          </a:xfrm>
          <a:prstGeom prst="rect">
            <a:avLst/>
          </a:prstGeom>
        </p:spPr>
      </p:pic>
      <p:sp>
        <p:nvSpPr>
          <p:cNvPr id="3" name="TextBox 2">
            <a:extLst>
              <a:ext uri="{FF2B5EF4-FFF2-40B4-BE49-F238E27FC236}">
                <a16:creationId xmlns:a16="http://schemas.microsoft.com/office/drawing/2014/main" id="{67DFD17A-AE5A-01CD-2E83-C2526280D054}"/>
              </a:ext>
            </a:extLst>
          </p:cNvPr>
          <p:cNvSpPr txBox="1"/>
          <p:nvPr/>
        </p:nvSpPr>
        <p:spPr>
          <a:xfrm>
            <a:off x="1038221" y="5710057"/>
            <a:ext cx="3246120" cy="369332"/>
          </a:xfrm>
          <a:prstGeom prst="rect">
            <a:avLst/>
          </a:prstGeom>
          <a:noFill/>
        </p:spPr>
        <p:txBody>
          <a:bodyPr wrap="square" rtlCol="0">
            <a:spAutoFit/>
          </a:bodyPr>
          <a:lstStyle/>
          <a:p>
            <a:pPr algn="ctr"/>
            <a:r>
              <a:rPr lang="en-CA" dirty="0"/>
              <a:t>Original</a:t>
            </a:r>
          </a:p>
        </p:txBody>
      </p:sp>
      <p:sp>
        <p:nvSpPr>
          <p:cNvPr id="4" name="TextBox 3">
            <a:extLst>
              <a:ext uri="{FF2B5EF4-FFF2-40B4-BE49-F238E27FC236}">
                <a16:creationId xmlns:a16="http://schemas.microsoft.com/office/drawing/2014/main" id="{ECA97564-41C1-24B6-42FB-A904E6288296}"/>
              </a:ext>
            </a:extLst>
          </p:cNvPr>
          <p:cNvSpPr txBox="1"/>
          <p:nvPr/>
        </p:nvSpPr>
        <p:spPr>
          <a:xfrm>
            <a:off x="7018020" y="5710057"/>
            <a:ext cx="3246120" cy="369332"/>
          </a:xfrm>
          <a:prstGeom prst="rect">
            <a:avLst/>
          </a:prstGeom>
          <a:noFill/>
        </p:spPr>
        <p:txBody>
          <a:bodyPr wrap="square" rtlCol="0">
            <a:spAutoFit/>
          </a:bodyPr>
          <a:lstStyle/>
          <a:p>
            <a:pPr algn="ctr"/>
            <a:r>
              <a:rPr lang="en-CA" dirty="0"/>
              <a:t>Replication</a:t>
            </a:r>
          </a:p>
        </p:txBody>
      </p:sp>
    </p:spTree>
    <p:extLst>
      <p:ext uri="{BB962C8B-B14F-4D97-AF65-F5344CB8AC3E}">
        <p14:creationId xmlns:p14="http://schemas.microsoft.com/office/powerpoint/2010/main" val="284728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12FB3-B076-3030-79AA-7D847ADA3864}"/>
              </a:ext>
            </a:extLst>
          </p:cNvPr>
          <p:cNvSpPr>
            <a:spLocks noGrp="1"/>
          </p:cNvSpPr>
          <p:nvPr>
            <p:ph type="title"/>
          </p:nvPr>
        </p:nvSpPr>
        <p:spPr/>
        <p:txBody>
          <a:bodyPr/>
          <a:lstStyle/>
          <a:p>
            <a:r>
              <a:rPr lang="en-CA" dirty="0"/>
              <a:t>Results: </a:t>
            </a:r>
            <a:r>
              <a:rPr lang="en-CA" dirty="0" err="1"/>
              <a:t>Gadarian</a:t>
            </a:r>
            <a:r>
              <a:rPr lang="en-CA" dirty="0"/>
              <a:t> Experiments: Figure 7</a:t>
            </a:r>
          </a:p>
        </p:txBody>
      </p:sp>
      <p:pic>
        <p:nvPicPr>
          <p:cNvPr id="5" name="Content Placeholder 4">
            <a:extLst>
              <a:ext uri="{FF2B5EF4-FFF2-40B4-BE49-F238E27FC236}">
                <a16:creationId xmlns:a16="http://schemas.microsoft.com/office/drawing/2014/main" id="{058EBC3B-237C-E2C7-AB04-6673BF18275F}"/>
              </a:ext>
            </a:extLst>
          </p:cNvPr>
          <p:cNvPicPr>
            <a:picLocks noGrp="1" noChangeAspect="1"/>
          </p:cNvPicPr>
          <p:nvPr>
            <p:ph idx="1"/>
          </p:nvPr>
        </p:nvPicPr>
        <p:blipFill>
          <a:blip r:embed="rId3"/>
          <a:stretch>
            <a:fillRect/>
          </a:stretch>
        </p:blipFill>
        <p:spPr>
          <a:xfrm>
            <a:off x="6730191" y="3479693"/>
            <a:ext cx="5263690" cy="3013182"/>
          </a:xfrm>
          <a:prstGeom prst="rect">
            <a:avLst/>
          </a:prstGeom>
        </p:spPr>
      </p:pic>
      <p:pic>
        <p:nvPicPr>
          <p:cNvPr id="7" name="Picture 6">
            <a:extLst>
              <a:ext uri="{FF2B5EF4-FFF2-40B4-BE49-F238E27FC236}">
                <a16:creationId xmlns:a16="http://schemas.microsoft.com/office/drawing/2014/main" id="{846CD29C-02DD-D58C-49CC-3D431AE30263}"/>
              </a:ext>
            </a:extLst>
          </p:cNvPr>
          <p:cNvPicPr>
            <a:picLocks noChangeAspect="1"/>
          </p:cNvPicPr>
          <p:nvPr/>
        </p:nvPicPr>
        <p:blipFill>
          <a:blip r:embed="rId4"/>
          <a:stretch>
            <a:fillRect/>
          </a:stretch>
        </p:blipFill>
        <p:spPr>
          <a:xfrm>
            <a:off x="6735347" y="2190776"/>
            <a:ext cx="5258534" cy="1181265"/>
          </a:xfrm>
          <a:prstGeom prst="rect">
            <a:avLst/>
          </a:prstGeom>
        </p:spPr>
      </p:pic>
      <p:sp>
        <p:nvSpPr>
          <p:cNvPr id="8" name="TextBox 7">
            <a:extLst>
              <a:ext uri="{FF2B5EF4-FFF2-40B4-BE49-F238E27FC236}">
                <a16:creationId xmlns:a16="http://schemas.microsoft.com/office/drawing/2014/main" id="{2514993B-5641-E9BB-2D78-71C452284E8F}"/>
              </a:ext>
            </a:extLst>
          </p:cNvPr>
          <p:cNvSpPr txBox="1"/>
          <p:nvPr/>
        </p:nvSpPr>
        <p:spPr>
          <a:xfrm>
            <a:off x="8892173" y="1465274"/>
            <a:ext cx="1341120" cy="369332"/>
          </a:xfrm>
          <a:prstGeom prst="rect">
            <a:avLst/>
          </a:prstGeom>
          <a:noFill/>
        </p:spPr>
        <p:txBody>
          <a:bodyPr wrap="square" rtlCol="0">
            <a:spAutoFit/>
          </a:bodyPr>
          <a:lstStyle/>
          <a:p>
            <a:r>
              <a:rPr lang="en-CA" dirty="0"/>
              <a:t>Replication</a:t>
            </a:r>
          </a:p>
        </p:txBody>
      </p:sp>
      <p:sp>
        <p:nvSpPr>
          <p:cNvPr id="11" name="TextBox 10">
            <a:extLst>
              <a:ext uri="{FF2B5EF4-FFF2-40B4-BE49-F238E27FC236}">
                <a16:creationId xmlns:a16="http://schemas.microsoft.com/office/drawing/2014/main" id="{925DBA3E-1F9B-3D6F-948F-2165BBDAB560}"/>
              </a:ext>
            </a:extLst>
          </p:cNvPr>
          <p:cNvSpPr txBox="1"/>
          <p:nvPr/>
        </p:nvSpPr>
        <p:spPr>
          <a:xfrm>
            <a:off x="2216803" y="2215858"/>
            <a:ext cx="1341120" cy="369332"/>
          </a:xfrm>
          <a:prstGeom prst="rect">
            <a:avLst/>
          </a:prstGeom>
          <a:noFill/>
        </p:spPr>
        <p:txBody>
          <a:bodyPr wrap="square" rtlCol="0">
            <a:spAutoFit/>
          </a:bodyPr>
          <a:lstStyle/>
          <a:p>
            <a:r>
              <a:rPr lang="en-CA" dirty="0"/>
              <a:t>Original</a:t>
            </a:r>
          </a:p>
        </p:txBody>
      </p:sp>
      <p:pic>
        <p:nvPicPr>
          <p:cNvPr id="15" name="Picture 14">
            <a:extLst>
              <a:ext uri="{FF2B5EF4-FFF2-40B4-BE49-F238E27FC236}">
                <a16:creationId xmlns:a16="http://schemas.microsoft.com/office/drawing/2014/main" id="{29506C70-620B-6F84-4F7A-B3E273ABD576}"/>
              </a:ext>
            </a:extLst>
          </p:cNvPr>
          <p:cNvPicPr>
            <a:picLocks noChangeAspect="1"/>
          </p:cNvPicPr>
          <p:nvPr/>
        </p:nvPicPr>
        <p:blipFill>
          <a:blip r:embed="rId5"/>
          <a:stretch>
            <a:fillRect/>
          </a:stretch>
        </p:blipFill>
        <p:spPr>
          <a:xfrm>
            <a:off x="385656" y="3479693"/>
            <a:ext cx="6344535" cy="2905530"/>
          </a:xfrm>
          <a:prstGeom prst="rect">
            <a:avLst/>
          </a:prstGeom>
        </p:spPr>
      </p:pic>
    </p:spTree>
    <p:extLst>
      <p:ext uri="{BB962C8B-B14F-4D97-AF65-F5344CB8AC3E}">
        <p14:creationId xmlns:p14="http://schemas.microsoft.com/office/powerpoint/2010/main" val="22839794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A87D9-80FB-8175-BDCD-F1D540896ECB}"/>
              </a:ext>
            </a:extLst>
          </p:cNvPr>
          <p:cNvSpPr>
            <a:spLocks noGrp="1"/>
          </p:cNvSpPr>
          <p:nvPr>
            <p:ph type="title"/>
          </p:nvPr>
        </p:nvSpPr>
        <p:spPr/>
        <p:txBody>
          <a:bodyPr/>
          <a:lstStyle/>
          <a:p>
            <a:r>
              <a:rPr lang="en-CA" dirty="0" err="1"/>
              <a:t>Gadarian</a:t>
            </a:r>
            <a:r>
              <a:rPr lang="en-CA" dirty="0"/>
              <a:t> Experiment: Figures 8</a:t>
            </a:r>
          </a:p>
        </p:txBody>
      </p:sp>
      <p:pic>
        <p:nvPicPr>
          <p:cNvPr id="5" name="Picture 4">
            <a:extLst>
              <a:ext uri="{FF2B5EF4-FFF2-40B4-BE49-F238E27FC236}">
                <a16:creationId xmlns:a16="http://schemas.microsoft.com/office/drawing/2014/main" id="{5D9EBE93-1452-2327-28C2-0B917572C039}"/>
              </a:ext>
            </a:extLst>
          </p:cNvPr>
          <p:cNvPicPr>
            <a:picLocks noChangeAspect="1"/>
          </p:cNvPicPr>
          <p:nvPr/>
        </p:nvPicPr>
        <p:blipFill>
          <a:blip r:embed="rId2"/>
          <a:stretch>
            <a:fillRect/>
          </a:stretch>
        </p:blipFill>
        <p:spPr>
          <a:xfrm>
            <a:off x="624839" y="1690688"/>
            <a:ext cx="4248109" cy="4176712"/>
          </a:xfrm>
          <a:prstGeom prst="rect">
            <a:avLst/>
          </a:prstGeom>
        </p:spPr>
      </p:pic>
      <p:pic>
        <p:nvPicPr>
          <p:cNvPr id="9" name="Picture 8">
            <a:extLst>
              <a:ext uri="{FF2B5EF4-FFF2-40B4-BE49-F238E27FC236}">
                <a16:creationId xmlns:a16="http://schemas.microsoft.com/office/drawing/2014/main" id="{F6134778-88D2-837F-B381-CC2EB12E6A11}"/>
              </a:ext>
            </a:extLst>
          </p:cNvPr>
          <p:cNvPicPr>
            <a:picLocks noChangeAspect="1"/>
          </p:cNvPicPr>
          <p:nvPr/>
        </p:nvPicPr>
        <p:blipFill>
          <a:blip r:embed="rId3"/>
          <a:stretch>
            <a:fillRect/>
          </a:stretch>
        </p:blipFill>
        <p:spPr>
          <a:xfrm>
            <a:off x="5815487" y="2707671"/>
            <a:ext cx="6115055" cy="3159729"/>
          </a:xfrm>
          <a:prstGeom prst="rect">
            <a:avLst/>
          </a:prstGeom>
        </p:spPr>
      </p:pic>
      <p:sp>
        <p:nvSpPr>
          <p:cNvPr id="3" name="TextBox 2">
            <a:extLst>
              <a:ext uri="{FF2B5EF4-FFF2-40B4-BE49-F238E27FC236}">
                <a16:creationId xmlns:a16="http://schemas.microsoft.com/office/drawing/2014/main" id="{462D58D3-DDD1-AACD-90A0-20A3E9D3B6D2}"/>
              </a:ext>
            </a:extLst>
          </p:cNvPr>
          <p:cNvSpPr txBox="1"/>
          <p:nvPr/>
        </p:nvSpPr>
        <p:spPr>
          <a:xfrm>
            <a:off x="1341371" y="6144023"/>
            <a:ext cx="3246120" cy="369332"/>
          </a:xfrm>
          <a:prstGeom prst="rect">
            <a:avLst/>
          </a:prstGeom>
          <a:noFill/>
        </p:spPr>
        <p:txBody>
          <a:bodyPr wrap="square" rtlCol="0">
            <a:spAutoFit/>
          </a:bodyPr>
          <a:lstStyle/>
          <a:p>
            <a:pPr algn="ctr"/>
            <a:r>
              <a:rPr lang="en-CA" dirty="0"/>
              <a:t>Original</a:t>
            </a:r>
          </a:p>
        </p:txBody>
      </p:sp>
      <p:sp>
        <p:nvSpPr>
          <p:cNvPr id="4" name="TextBox 3">
            <a:extLst>
              <a:ext uri="{FF2B5EF4-FFF2-40B4-BE49-F238E27FC236}">
                <a16:creationId xmlns:a16="http://schemas.microsoft.com/office/drawing/2014/main" id="{B443ED4E-16C4-22B8-B755-7DD815D1BCF3}"/>
              </a:ext>
            </a:extLst>
          </p:cNvPr>
          <p:cNvSpPr txBox="1"/>
          <p:nvPr/>
        </p:nvSpPr>
        <p:spPr>
          <a:xfrm>
            <a:off x="7604511" y="5959357"/>
            <a:ext cx="3246120" cy="369332"/>
          </a:xfrm>
          <a:prstGeom prst="rect">
            <a:avLst/>
          </a:prstGeom>
          <a:noFill/>
        </p:spPr>
        <p:txBody>
          <a:bodyPr wrap="square" rtlCol="0">
            <a:spAutoFit/>
          </a:bodyPr>
          <a:lstStyle/>
          <a:p>
            <a:pPr algn="ctr"/>
            <a:r>
              <a:rPr lang="en-CA" dirty="0"/>
              <a:t>Replication</a:t>
            </a:r>
          </a:p>
        </p:txBody>
      </p:sp>
    </p:spTree>
    <p:extLst>
      <p:ext uri="{BB962C8B-B14F-4D97-AF65-F5344CB8AC3E}">
        <p14:creationId xmlns:p14="http://schemas.microsoft.com/office/powerpoint/2010/main" val="28906485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AABCB-039A-9EAD-3B8F-837C8234364A}"/>
              </a:ext>
            </a:extLst>
          </p:cNvPr>
          <p:cNvSpPr>
            <a:spLocks noGrp="1"/>
          </p:cNvSpPr>
          <p:nvPr>
            <p:ph type="title"/>
          </p:nvPr>
        </p:nvSpPr>
        <p:spPr/>
        <p:txBody>
          <a:bodyPr/>
          <a:lstStyle/>
          <a:p>
            <a:r>
              <a:rPr lang="en-CA" dirty="0" err="1"/>
              <a:t>Gadarian</a:t>
            </a:r>
            <a:r>
              <a:rPr lang="en-CA" dirty="0"/>
              <a:t> Experiment: Figures 9 and 10</a:t>
            </a:r>
          </a:p>
        </p:txBody>
      </p:sp>
      <p:pic>
        <p:nvPicPr>
          <p:cNvPr id="7" name="Picture 6">
            <a:extLst>
              <a:ext uri="{FF2B5EF4-FFF2-40B4-BE49-F238E27FC236}">
                <a16:creationId xmlns:a16="http://schemas.microsoft.com/office/drawing/2014/main" id="{84EFEAE4-AE7E-2000-AC88-118B4C42C08B}"/>
              </a:ext>
            </a:extLst>
          </p:cNvPr>
          <p:cNvPicPr>
            <a:picLocks noChangeAspect="1"/>
          </p:cNvPicPr>
          <p:nvPr/>
        </p:nvPicPr>
        <p:blipFill>
          <a:blip r:embed="rId2"/>
          <a:stretch>
            <a:fillRect/>
          </a:stretch>
        </p:blipFill>
        <p:spPr>
          <a:xfrm>
            <a:off x="1276976" y="1580892"/>
            <a:ext cx="3515216" cy="1848108"/>
          </a:xfrm>
          <a:prstGeom prst="rect">
            <a:avLst/>
          </a:prstGeom>
        </p:spPr>
      </p:pic>
      <p:pic>
        <p:nvPicPr>
          <p:cNvPr id="5" name="Picture 4">
            <a:extLst>
              <a:ext uri="{FF2B5EF4-FFF2-40B4-BE49-F238E27FC236}">
                <a16:creationId xmlns:a16="http://schemas.microsoft.com/office/drawing/2014/main" id="{06E4C984-7DF0-3975-7F7D-90F71D2F5F47}"/>
              </a:ext>
            </a:extLst>
          </p:cNvPr>
          <p:cNvPicPr>
            <a:picLocks noChangeAspect="1"/>
          </p:cNvPicPr>
          <p:nvPr/>
        </p:nvPicPr>
        <p:blipFill>
          <a:blip r:embed="rId3"/>
          <a:stretch>
            <a:fillRect/>
          </a:stretch>
        </p:blipFill>
        <p:spPr>
          <a:xfrm>
            <a:off x="6851176" y="1410150"/>
            <a:ext cx="5005544" cy="2309645"/>
          </a:xfrm>
          <a:prstGeom prst="rect">
            <a:avLst/>
          </a:prstGeom>
        </p:spPr>
      </p:pic>
      <p:pic>
        <p:nvPicPr>
          <p:cNvPr id="8" name="Picture 7">
            <a:extLst>
              <a:ext uri="{FF2B5EF4-FFF2-40B4-BE49-F238E27FC236}">
                <a16:creationId xmlns:a16="http://schemas.microsoft.com/office/drawing/2014/main" id="{34919424-7C3D-6A72-BF8F-8B279D5099C1}"/>
              </a:ext>
            </a:extLst>
          </p:cNvPr>
          <p:cNvPicPr>
            <a:picLocks noChangeAspect="1"/>
          </p:cNvPicPr>
          <p:nvPr/>
        </p:nvPicPr>
        <p:blipFill>
          <a:blip r:embed="rId4"/>
          <a:stretch>
            <a:fillRect/>
          </a:stretch>
        </p:blipFill>
        <p:spPr>
          <a:xfrm>
            <a:off x="6497206" y="3652441"/>
            <a:ext cx="5694794" cy="2526619"/>
          </a:xfrm>
          <a:prstGeom prst="rect">
            <a:avLst/>
          </a:prstGeom>
        </p:spPr>
      </p:pic>
      <p:pic>
        <p:nvPicPr>
          <p:cNvPr id="10" name="Picture 9">
            <a:extLst>
              <a:ext uri="{FF2B5EF4-FFF2-40B4-BE49-F238E27FC236}">
                <a16:creationId xmlns:a16="http://schemas.microsoft.com/office/drawing/2014/main" id="{F7A1DC44-80C3-97ED-D643-B139C4C8D950}"/>
              </a:ext>
            </a:extLst>
          </p:cNvPr>
          <p:cNvPicPr>
            <a:picLocks noChangeAspect="1"/>
          </p:cNvPicPr>
          <p:nvPr/>
        </p:nvPicPr>
        <p:blipFill>
          <a:blip r:embed="rId5"/>
          <a:stretch>
            <a:fillRect/>
          </a:stretch>
        </p:blipFill>
        <p:spPr>
          <a:xfrm>
            <a:off x="1386529" y="4044091"/>
            <a:ext cx="3296110" cy="1743318"/>
          </a:xfrm>
          <a:prstGeom prst="rect">
            <a:avLst/>
          </a:prstGeom>
        </p:spPr>
      </p:pic>
      <p:sp>
        <p:nvSpPr>
          <p:cNvPr id="3" name="TextBox 2">
            <a:extLst>
              <a:ext uri="{FF2B5EF4-FFF2-40B4-BE49-F238E27FC236}">
                <a16:creationId xmlns:a16="http://schemas.microsoft.com/office/drawing/2014/main" id="{F9ABC85F-93D3-935E-1885-E5769EAB2785}"/>
              </a:ext>
            </a:extLst>
          </p:cNvPr>
          <p:cNvSpPr txBox="1"/>
          <p:nvPr/>
        </p:nvSpPr>
        <p:spPr>
          <a:xfrm>
            <a:off x="1276976" y="6217834"/>
            <a:ext cx="3246120" cy="369332"/>
          </a:xfrm>
          <a:prstGeom prst="rect">
            <a:avLst/>
          </a:prstGeom>
          <a:noFill/>
        </p:spPr>
        <p:txBody>
          <a:bodyPr wrap="square" rtlCol="0">
            <a:spAutoFit/>
          </a:bodyPr>
          <a:lstStyle/>
          <a:p>
            <a:pPr algn="ctr"/>
            <a:r>
              <a:rPr lang="en-CA" dirty="0"/>
              <a:t>Original</a:t>
            </a:r>
          </a:p>
        </p:txBody>
      </p:sp>
      <p:sp>
        <p:nvSpPr>
          <p:cNvPr id="4" name="TextBox 3">
            <a:extLst>
              <a:ext uri="{FF2B5EF4-FFF2-40B4-BE49-F238E27FC236}">
                <a16:creationId xmlns:a16="http://schemas.microsoft.com/office/drawing/2014/main" id="{9A99D3DE-0A35-E8A6-6F79-49969C0F5DEA}"/>
              </a:ext>
            </a:extLst>
          </p:cNvPr>
          <p:cNvSpPr txBox="1"/>
          <p:nvPr/>
        </p:nvSpPr>
        <p:spPr>
          <a:xfrm>
            <a:off x="7668904" y="6179060"/>
            <a:ext cx="3246120" cy="369332"/>
          </a:xfrm>
          <a:prstGeom prst="rect">
            <a:avLst/>
          </a:prstGeom>
          <a:noFill/>
        </p:spPr>
        <p:txBody>
          <a:bodyPr wrap="square" rtlCol="0">
            <a:spAutoFit/>
          </a:bodyPr>
          <a:lstStyle/>
          <a:p>
            <a:pPr algn="ctr"/>
            <a:r>
              <a:rPr lang="en-CA" dirty="0"/>
              <a:t>Replication</a:t>
            </a:r>
          </a:p>
        </p:txBody>
      </p:sp>
    </p:spTree>
    <p:extLst>
      <p:ext uri="{BB962C8B-B14F-4D97-AF65-F5344CB8AC3E}">
        <p14:creationId xmlns:p14="http://schemas.microsoft.com/office/powerpoint/2010/main" val="3937180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4C3B4-7E8E-7416-E424-65562EFE75A9}"/>
              </a:ext>
            </a:extLst>
          </p:cNvPr>
          <p:cNvSpPr>
            <a:spLocks noGrp="1"/>
          </p:cNvSpPr>
          <p:nvPr>
            <p:ph type="title"/>
          </p:nvPr>
        </p:nvSpPr>
        <p:spPr/>
        <p:txBody>
          <a:bodyPr/>
          <a:lstStyle/>
          <a:p>
            <a:r>
              <a:rPr lang="en-CA" dirty="0"/>
              <a:t>Results: ANES Most Important Problem: Figure 17</a:t>
            </a:r>
          </a:p>
        </p:txBody>
      </p:sp>
      <p:pic>
        <p:nvPicPr>
          <p:cNvPr id="7" name="Content Placeholder 6">
            <a:extLst>
              <a:ext uri="{FF2B5EF4-FFF2-40B4-BE49-F238E27FC236}">
                <a16:creationId xmlns:a16="http://schemas.microsoft.com/office/drawing/2014/main" id="{4A814C5E-7050-A5AC-983B-8913EEEFC94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165265" y="1027906"/>
            <a:ext cx="4188535" cy="5805989"/>
          </a:xfrm>
          <a:prstGeom prst="rect">
            <a:avLst/>
          </a:prstGeom>
        </p:spPr>
      </p:pic>
      <p:sp>
        <p:nvSpPr>
          <p:cNvPr id="4" name="AutoShape 2">
            <a:extLst>
              <a:ext uri="{FF2B5EF4-FFF2-40B4-BE49-F238E27FC236}">
                <a16:creationId xmlns:a16="http://schemas.microsoft.com/office/drawing/2014/main" id="{5475EA46-23D6-2C87-F806-CDC1C780BA54}"/>
              </a:ext>
            </a:extLst>
          </p:cNvPr>
          <p:cNvSpPr>
            <a:spLocks noChangeAspect="1" noChangeArrowheads="1"/>
          </p:cNvSpPr>
          <p:nvPr/>
        </p:nvSpPr>
        <p:spPr bwMode="auto">
          <a:xfrm>
            <a:off x="5943599" y="3276599"/>
            <a:ext cx="7281081" cy="728108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sp>
        <p:nvSpPr>
          <p:cNvPr id="5" name="AutoShape 4">
            <a:extLst>
              <a:ext uri="{FF2B5EF4-FFF2-40B4-BE49-F238E27FC236}">
                <a16:creationId xmlns:a16="http://schemas.microsoft.com/office/drawing/2014/main" id="{D2E80021-171E-52B7-E59F-723382865A0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pic>
        <p:nvPicPr>
          <p:cNvPr id="9" name="Picture 8">
            <a:extLst>
              <a:ext uri="{FF2B5EF4-FFF2-40B4-BE49-F238E27FC236}">
                <a16:creationId xmlns:a16="http://schemas.microsoft.com/office/drawing/2014/main" id="{18FE5760-102A-1E2B-AF70-0C762FABF867}"/>
              </a:ext>
            </a:extLst>
          </p:cNvPr>
          <p:cNvPicPr>
            <a:picLocks noChangeAspect="1"/>
          </p:cNvPicPr>
          <p:nvPr/>
        </p:nvPicPr>
        <p:blipFill>
          <a:blip r:embed="rId3"/>
          <a:stretch>
            <a:fillRect/>
          </a:stretch>
        </p:blipFill>
        <p:spPr>
          <a:xfrm>
            <a:off x="355976" y="1690688"/>
            <a:ext cx="5587622" cy="4998566"/>
          </a:xfrm>
          <a:prstGeom prst="rect">
            <a:avLst/>
          </a:prstGeom>
        </p:spPr>
      </p:pic>
    </p:spTree>
    <p:extLst>
      <p:ext uri="{BB962C8B-B14F-4D97-AF65-F5344CB8AC3E}">
        <p14:creationId xmlns:p14="http://schemas.microsoft.com/office/powerpoint/2010/main" val="42898384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2DB15-FCF5-0709-AF59-35C5241511A1}"/>
              </a:ext>
            </a:extLst>
          </p:cNvPr>
          <p:cNvSpPr>
            <a:spLocks noGrp="1"/>
          </p:cNvSpPr>
          <p:nvPr>
            <p:ph type="title"/>
          </p:nvPr>
        </p:nvSpPr>
        <p:spPr/>
        <p:txBody>
          <a:bodyPr/>
          <a:lstStyle/>
          <a:p>
            <a:r>
              <a:rPr lang="en-CA" dirty="0"/>
              <a:t>ANES Most Important Problem: Figure 18</a:t>
            </a:r>
          </a:p>
        </p:txBody>
      </p:sp>
      <p:pic>
        <p:nvPicPr>
          <p:cNvPr id="7" name="Picture 6">
            <a:extLst>
              <a:ext uri="{FF2B5EF4-FFF2-40B4-BE49-F238E27FC236}">
                <a16:creationId xmlns:a16="http://schemas.microsoft.com/office/drawing/2014/main" id="{01CC0935-2367-16C8-F178-8C8073C2588B}"/>
              </a:ext>
            </a:extLst>
          </p:cNvPr>
          <p:cNvPicPr>
            <a:picLocks noChangeAspect="1"/>
          </p:cNvPicPr>
          <p:nvPr/>
        </p:nvPicPr>
        <p:blipFill>
          <a:blip r:embed="rId2"/>
          <a:stretch>
            <a:fillRect/>
          </a:stretch>
        </p:blipFill>
        <p:spPr>
          <a:xfrm>
            <a:off x="6599642" y="1936918"/>
            <a:ext cx="5592358" cy="3305636"/>
          </a:xfrm>
          <a:prstGeom prst="rect">
            <a:avLst/>
          </a:prstGeom>
        </p:spPr>
      </p:pic>
      <p:pic>
        <p:nvPicPr>
          <p:cNvPr id="9" name="Picture 8">
            <a:extLst>
              <a:ext uri="{FF2B5EF4-FFF2-40B4-BE49-F238E27FC236}">
                <a16:creationId xmlns:a16="http://schemas.microsoft.com/office/drawing/2014/main" id="{2C5A1179-C3E0-3BFB-F848-6E92DBE6685E}"/>
              </a:ext>
            </a:extLst>
          </p:cNvPr>
          <p:cNvPicPr>
            <a:picLocks noChangeAspect="1"/>
          </p:cNvPicPr>
          <p:nvPr/>
        </p:nvPicPr>
        <p:blipFill>
          <a:blip r:embed="rId3"/>
          <a:stretch>
            <a:fillRect/>
          </a:stretch>
        </p:blipFill>
        <p:spPr>
          <a:xfrm>
            <a:off x="207476" y="1936918"/>
            <a:ext cx="6043200" cy="3305636"/>
          </a:xfrm>
          <a:prstGeom prst="rect">
            <a:avLst/>
          </a:prstGeom>
        </p:spPr>
      </p:pic>
      <p:sp>
        <p:nvSpPr>
          <p:cNvPr id="10" name="TextBox 9">
            <a:extLst>
              <a:ext uri="{FF2B5EF4-FFF2-40B4-BE49-F238E27FC236}">
                <a16:creationId xmlns:a16="http://schemas.microsoft.com/office/drawing/2014/main" id="{2D69F3C8-79D1-CEB6-EDD3-A9A6D8DF87B6}"/>
              </a:ext>
            </a:extLst>
          </p:cNvPr>
          <p:cNvSpPr txBox="1"/>
          <p:nvPr/>
        </p:nvSpPr>
        <p:spPr>
          <a:xfrm>
            <a:off x="2103135" y="5413191"/>
            <a:ext cx="2442949" cy="369332"/>
          </a:xfrm>
          <a:prstGeom prst="rect">
            <a:avLst/>
          </a:prstGeom>
          <a:noFill/>
        </p:spPr>
        <p:txBody>
          <a:bodyPr wrap="square" rtlCol="0">
            <a:spAutoFit/>
          </a:bodyPr>
          <a:lstStyle/>
          <a:p>
            <a:pPr algn="ctr"/>
            <a:r>
              <a:rPr lang="en-CA" dirty="0"/>
              <a:t>Original</a:t>
            </a:r>
          </a:p>
        </p:txBody>
      </p:sp>
      <p:sp>
        <p:nvSpPr>
          <p:cNvPr id="11" name="TextBox 10">
            <a:extLst>
              <a:ext uri="{FF2B5EF4-FFF2-40B4-BE49-F238E27FC236}">
                <a16:creationId xmlns:a16="http://schemas.microsoft.com/office/drawing/2014/main" id="{74822077-516D-11E8-C394-FD0D531061E5}"/>
              </a:ext>
            </a:extLst>
          </p:cNvPr>
          <p:cNvSpPr txBox="1"/>
          <p:nvPr/>
        </p:nvSpPr>
        <p:spPr>
          <a:xfrm>
            <a:off x="8174346" y="5613780"/>
            <a:ext cx="2442949" cy="369332"/>
          </a:xfrm>
          <a:prstGeom prst="rect">
            <a:avLst/>
          </a:prstGeom>
          <a:noFill/>
        </p:spPr>
        <p:txBody>
          <a:bodyPr wrap="square" rtlCol="0">
            <a:spAutoFit/>
          </a:bodyPr>
          <a:lstStyle/>
          <a:p>
            <a:pPr algn="ctr"/>
            <a:r>
              <a:rPr lang="en-CA" dirty="0"/>
              <a:t>Replication</a:t>
            </a:r>
          </a:p>
        </p:txBody>
      </p:sp>
    </p:spTree>
    <p:extLst>
      <p:ext uri="{BB962C8B-B14F-4D97-AF65-F5344CB8AC3E}">
        <p14:creationId xmlns:p14="http://schemas.microsoft.com/office/powerpoint/2010/main" val="4075784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BBCCA2-0EC5-0B91-BA78-17E39D96CF36}"/>
              </a:ext>
            </a:extLst>
          </p:cNvPr>
          <p:cNvSpPr>
            <a:spLocks noGrp="1"/>
          </p:cNvSpPr>
          <p:nvPr>
            <p:ph type="title"/>
          </p:nvPr>
        </p:nvSpPr>
        <p:spPr>
          <a:xfrm>
            <a:off x="803775" y="1106007"/>
            <a:ext cx="10550025" cy="1182927"/>
          </a:xfrm>
        </p:spPr>
        <p:txBody>
          <a:bodyPr anchor="b">
            <a:normAutofit/>
          </a:bodyPr>
          <a:lstStyle/>
          <a:p>
            <a:r>
              <a:rPr lang="en-CA" sz="5200"/>
              <a:t>Replication Autopsy: What did I learn? </a:t>
            </a:r>
          </a:p>
        </p:txBody>
      </p:sp>
      <p:cxnSp>
        <p:nvCxnSpPr>
          <p:cNvPr id="10" name="Straight Connector 9">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78" y="806470"/>
            <a:ext cx="7903723" cy="0"/>
          </a:xfrm>
          <a:prstGeom prst="line">
            <a:avLst/>
          </a:prstGeom>
          <a:ln w="25400" cap="sq">
            <a:gradFill flip="none" rotWithShape="1">
              <a:gsLst>
                <a:gs pos="0">
                  <a:schemeClr val="accent1"/>
                </a:gs>
                <a:gs pos="100000">
                  <a:schemeClr val="accent2"/>
                </a:gs>
              </a:gsLst>
              <a:lin ang="10800000" scaled="0"/>
              <a:tileRect/>
            </a:gradFill>
            <a:beve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E0A907D-547E-3909-B965-11B67161FB60}"/>
              </a:ext>
            </a:extLst>
          </p:cNvPr>
          <p:cNvSpPr>
            <a:spLocks noGrp="1"/>
          </p:cNvSpPr>
          <p:nvPr>
            <p:ph idx="1"/>
          </p:nvPr>
        </p:nvSpPr>
        <p:spPr>
          <a:xfrm>
            <a:off x="803775" y="2598947"/>
            <a:ext cx="10550025" cy="3677348"/>
          </a:xfrm>
        </p:spPr>
        <p:txBody>
          <a:bodyPr anchor="t">
            <a:normAutofit/>
          </a:bodyPr>
          <a:lstStyle/>
          <a:p>
            <a:r>
              <a:rPr lang="en-CA" sz="2000">
                <a:solidFill>
                  <a:schemeClr val="tx1">
                    <a:alpha val="80000"/>
                  </a:schemeClr>
                </a:solidFill>
              </a:rPr>
              <a:t>Archived scripts relied on helper files from the developer’s computer and old function names (so I had to do a bit of translating)</a:t>
            </a:r>
          </a:p>
          <a:p>
            <a:r>
              <a:rPr lang="en-CA" sz="2000">
                <a:solidFill>
                  <a:schemeClr val="tx1">
                    <a:alpha val="80000"/>
                  </a:schemeClr>
                </a:solidFill>
              </a:rPr>
              <a:t>Replication code appeared to be using a development STM version</a:t>
            </a:r>
          </a:p>
          <a:p>
            <a:r>
              <a:rPr lang="en-CA" sz="2000">
                <a:solidFill>
                  <a:schemeClr val="tx1">
                    <a:alpha val="80000"/>
                  </a:schemeClr>
                </a:solidFill>
              </a:rPr>
              <a:t>I chose models that were as close as possible to those chosen by the authors, but they were not exact</a:t>
            </a:r>
          </a:p>
          <a:p>
            <a:r>
              <a:rPr lang="en-CA" sz="2000">
                <a:solidFill>
                  <a:schemeClr val="tx1">
                    <a:alpha val="80000"/>
                  </a:schemeClr>
                </a:solidFill>
              </a:rPr>
              <a:t>I had to do a bit of digging and compatibility checking to match functions with archived versions of STM</a:t>
            </a:r>
          </a:p>
          <a:p>
            <a:endParaRPr lang="en-CA" sz="2000">
              <a:solidFill>
                <a:schemeClr val="tx1">
                  <a:alpha val="80000"/>
                </a:schemeClr>
              </a:solidFill>
            </a:endParaRPr>
          </a:p>
          <a:p>
            <a:endParaRPr lang="en-CA" sz="2000">
              <a:solidFill>
                <a:schemeClr val="tx1">
                  <a:alpha val="80000"/>
                </a:schemeClr>
              </a:solidFill>
            </a:endParaRPr>
          </a:p>
          <a:p>
            <a:pPr marL="457200" lvl="1" indent="0">
              <a:buNone/>
            </a:pPr>
            <a:endParaRPr lang="en-CA" sz="2000">
              <a:solidFill>
                <a:schemeClr val="tx1">
                  <a:alpha val="80000"/>
                </a:schemeClr>
              </a:solidFill>
            </a:endParaRPr>
          </a:p>
          <a:p>
            <a:pPr lvl="1"/>
            <a:endParaRPr lang="en-CA" sz="2000">
              <a:solidFill>
                <a:schemeClr val="tx1">
                  <a:alpha val="80000"/>
                </a:schemeClr>
              </a:solidFill>
            </a:endParaRPr>
          </a:p>
        </p:txBody>
      </p:sp>
      <p:grpSp>
        <p:nvGrpSpPr>
          <p:cNvPr id="12" name="Group 11">
            <a:extLst>
              <a:ext uri="{FF2B5EF4-FFF2-40B4-BE49-F238E27FC236}">
                <a16:creationId xmlns:a16="http://schemas.microsoft.com/office/drawing/2014/main" id="{78350D8D-73D6-4132-89B5-DD52F3962A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88224" y="2325422"/>
            <a:ext cx="465458" cy="872153"/>
            <a:chOff x="11388224" y="2325422"/>
            <a:chExt cx="465458" cy="872153"/>
          </a:xfrm>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3764" y="232542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762544" y="255471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88224" y="306986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p>
          </p:txBody>
        </p:sp>
      </p:grpSp>
    </p:spTree>
    <p:extLst>
      <p:ext uri="{BB962C8B-B14F-4D97-AF65-F5344CB8AC3E}">
        <p14:creationId xmlns:p14="http://schemas.microsoft.com/office/powerpoint/2010/main" val="3280703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Layers of backlit paper">
            <a:extLst>
              <a:ext uri="{FF2B5EF4-FFF2-40B4-BE49-F238E27FC236}">
                <a16:creationId xmlns:a16="http://schemas.microsoft.com/office/drawing/2014/main" id="{5020F2DB-FBFF-4613-23F3-B148D0A016F9}"/>
              </a:ext>
            </a:extLst>
          </p:cNvPr>
          <p:cNvPicPr>
            <a:picLocks noChangeAspect="1"/>
          </p:cNvPicPr>
          <p:nvPr/>
        </p:nvPicPr>
        <p:blipFill>
          <a:blip r:embed="rId2"/>
          <a:srcRect l="25144" r="15590" b="-1"/>
          <a:stretch>
            <a:fillRect/>
          </a:stretch>
        </p:blipFill>
        <p:spPr>
          <a:xfrm>
            <a:off x="6103027" y="10"/>
            <a:ext cx="6088971" cy="6857990"/>
          </a:xfrm>
          <a:prstGeom prst="rect">
            <a:avLst/>
          </a:prstGeom>
        </p:spPr>
      </p:pic>
      <p:sp useBgFill="1">
        <p:nvSpPr>
          <p:cNvPr id="11" name="Rectangle 10">
            <a:extLst>
              <a:ext uri="{FF2B5EF4-FFF2-40B4-BE49-F238E27FC236}">
                <a16:creationId xmlns:a16="http://schemas.microsoft.com/office/drawing/2014/main" id="{59B296B9-C5A5-4E4F-9B60-C907B5F14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D0300FD3-5AF1-6305-15FA-907807267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239627-8C69-8502-8AA5-21129D447553}"/>
              </a:ext>
            </a:extLst>
          </p:cNvPr>
          <p:cNvSpPr>
            <a:spLocks noGrp="1"/>
          </p:cNvSpPr>
          <p:nvPr>
            <p:ph type="title"/>
          </p:nvPr>
        </p:nvSpPr>
        <p:spPr>
          <a:xfrm>
            <a:off x="761801" y="328512"/>
            <a:ext cx="4778387" cy="1628970"/>
          </a:xfrm>
        </p:spPr>
        <p:txBody>
          <a:bodyPr anchor="ctr">
            <a:normAutofit/>
          </a:bodyPr>
          <a:lstStyle/>
          <a:p>
            <a:r>
              <a:rPr lang="en-CA" sz="4000"/>
              <a:t>Replication Autopsy: What worked</a:t>
            </a:r>
          </a:p>
        </p:txBody>
      </p:sp>
      <p:sp>
        <p:nvSpPr>
          <p:cNvPr id="3" name="Content Placeholder 2">
            <a:extLst>
              <a:ext uri="{FF2B5EF4-FFF2-40B4-BE49-F238E27FC236}">
                <a16:creationId xmlns:a16="http://schemas.microsoft.com/office/drawing/2014/main" id="{4C44DD93-F846-F668-2925-A794441B1933}"/>
              </a:ext>
            </a:extLst>
          </p:cNvPr>
          <p:cNvSpPr>
            <a:spLocks noGrp="1"/>
          </p:cNvSpPr>
          <p:nvPr>
            <p:ph idx="1"/>
          </p:nvPr>
        </p:nvSpPr>
        <p:spPr>
          <a:xfrm>
            <a:off x="761801" y="2884929"/>
            <a:ext cx="4659756" cy="3374137"/>
          </a:xfrm>
        </p:spPr>
        <p:txBody>
          <a:bodyPr anchor="ctr">
            <a:normAutofit/>
          </a:bodyPr>
          <a:lstStyle/>
          <a:p>
            <a:r>
              <a:rPr lang="en-CA" sz="2000"/>
              <a:t>I was often able to replicate the substantive patterns from the original paper</a:t>
            </a:r>
          </a:p>
          <a:p>
            <a:r>
              <a:rPr lang="en-CA" sz="2000"/>
              <a:t>When using the modern version of STM, many of the functions were simple to update (just slightly changed names)</a:t>
            </a:r>
          </a:p>
        </p:txBody>
      </p:sp>
    </p:spTree>
    <p:extLst>
      <p:ext uri="{BB962C8B-B14F-4D97-AF65-F5344CB8AC3E}">
        <p14:creationId xmlns:p14="http://schemas.microsoft.com/office/powerpoint/2010/main" val="12208106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DE4ED-DC60-4B03-F83C-F212F0B6BA9E}"/>
              </a:ext>
            </a:extLst>
          </p:cNvPr>
          <p:cNvSpPr>
            <a:spLocks noGrp="1"/>
          </p:cNvSpPr>
          <p:nvPr>
            <p:ph type="title"/>
          </p:nvPr>
        </p:nvSpPr>
        <p:spPr/>
        <p:txBody>
          <a:bodyPr/>
          <a:lstStyle/>
          <a:p>
            <a:r>
              <a:rPr lang="en-CA" dirty="0"/>
              <a:t>Replication Autopsy: What did not work</a:t>
            </a:r>
          </a:p>
        </p:txBody>
      </p:sp>
      <p:graphicFrame>
        <p:nvGraphicFramePr>
          <p:cNvPr id="5" name="Content Placeholder 2">
            <a:extLst>
              <a:ext uri="{FF2B5EF4-FFF2-40B4-BE49-F238E27FC236}">
                <a16:creationId xmlns:a16="http://schemas.microsoft.com/office/drawing/2014/main" id="{41B291E8-BD57-F31D-5074-FCF8DA55FADD}"/>
              </a:ext>
            </a:extLst>
          </p:cNvPr>
          <p:cNvGraphicFramePr>
            <a:graphicFrameLocks noGrp="1"/>
          </p:cNvGraphicFramePr>
          <p:nvPr>
            <p:ph idx="1"/>
            <p:extLst>
              <p:ext uri="{D42A27DB-BD31-4B8C-83A1-F6EECF244321}">
                <p14:modId xmlns:p14="http://schemas.microsoft.com/office/powerpoint/2010/main" val="428289422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708384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BDECE6-F834-9099-163E-56CC7F94B535}"/>
              </a:ext>
            </a:extLst>
          </p:cNvPr>
          <p:cNvSpPr>
            <a:spLocks noGrp="1"/>
          </p:cNvSpPr>
          <p:nvPr>
            <p:ph type="title"/>
          </p:nvPr>
        </p:nvSpPr>
        <p:spPr>
          <a:xfrm>
            <a:off x="803775" y="1106007"/>
            <a:ext cx="10550025" cy="1182927"/>
          </a:xfrm>
        </p:spPr>
        <p:txBody>
          <a:bodyPr anchor="b">
            <a:normAutofit/>
          </a:bodyPr>
          <a:lstStyle/>
          <a:p>
            <a:r>
              <a:rPr lang="en-CA" sz="3900"/>
              <a:t>Replication Autopsy: Why the Rand replication failed</a:t>
            </a:r>
          </a:p>
        </p:txBody>
      </p:sp>
      <p:cxnSp>
        <p:nvCxnSpPr>
          <p:cNvPr id="10" name="Straight Connector 9">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78" y="806470"/>
            <a:ext cx="7903723" cy="0"/>
          </a:xfrm>
          <a:prstGeom prst="line">
            <a:avLst/>
          </a:prstGeom>
          <a:ln w="25400" cap="sq">
            <a:gradFill flip="none" rotWithShape="1">
              <a:gsLst>
                <a:gs pos="0">
                  <a:schemeClr val="accent1"/>
                </a:gs>
                <a:gs pos="100000">
                  <a:schemeClr val="accent2"/>
                </a:gs>
              </a:gsLst>
              <a:lin ang="10800000" scaled="0"/>
              <a:tileRect/>
            </a:gradFill>
            <a:beve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64E96DA-DC6A-7EB4-4A03-2D43005EE4D4}"/>
              </a:ext>
            </a:extLst>
          </p:cNvPr>
          <p:cNvSpPr>
            <a:spLocks noGrp="1"/>
          </p:cNvSpPr>
          <p:nvPr>
            <p:ph idx="1"/>
          </p:nvPr>
        </p:nvSpPr>
        <p:spPr>
          <a:xfrm>
            <a:off x="803775" y="2598947"/>
            <a:ext cx="10550025" cy="3677348"/>
          </a:xfrm>
        </p:spPr>
        <p:txBody>
          <a:bodyPr anchor="t">
            <a:normAutofit/>
          </a:bodyPr>
          <a:lstStyle/>
          <a:p>
            <a:r>
              <a:rPr lang="en-CA" sz="2000" dirty="0">
                <a:solidFill>
                  <a:schemeClr val="tx1">
                    <a:alpha val="80000"/>
                  </a:schemeClr>
                </a:solidFill>
              </a:rPr>
              <a:t>I attempted to replicate the workflow for the experiment, but was unable to run the model using the files in the replication package. </a:t>
            </a:r>
          </a:p>
          <a:p>
            <a:r>
              <a:rPr lang="en-CA" sz="2000" dirty="0">
                <a:solidFill>
                  <a:schemeClr val="tx1">
                    <a:alpha val="80000"/>
                  </a:schemeClr>
                </a:solidFill>
              </a:rPr>
              <a:t>The issue was a mismatch across files: </a:t>
            </a:r>
          </a:p>
          <a:p>
            <a:pPr lvl="1"/>
            <a:r>
              <a:rPr lang="en-CA" sz="2000" dirty="0">
                <a:solidFill>
                  <a:schemeClr val="tx1">
                    <a:alpha val="80000"/>
                  </a:schemeClr>
                </a:solidFill>
              </a:rPr>
              <a:t>the document and metadata counts and a missing document feature IDs in the vocab file</a:t>
            </a:r>
          </a:p>
        </p:txBody>
      </p:sp>
      <p:grpSp>
        <p:nvGrpSpPr>
          <p:cNvPr id="12" name="Group 11">
            <a:extLst>
              <a:ext uri="{FF2B5EF4-FFF2-40B4-BE49-F238E27FC236}">
                <a16:creationId xmlns:a16="http://schemas.microsoft.com/office/drawing/2014/main" id="{78350D8D-73D6-4132-89B5-DD52F3962A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88224" y="2325422"/>
            <a:ext cx="465458" cy="872153"/>
            <a:chOff x="11388224" y="2325422"/>
            <a:chExt cx="465458" cy="872153"/>
          </a:xfrm>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3764" y="232542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762544" y="255471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88224" y="306986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p>
          </p:txBody>
        </p:sp>
      </p:grpSp>
    </p:spTree>
    <p:extLst>
      <p:ext uri="{BB962C8B-B14F-4D97-AF65-F5344CB8AC3E}">
        <p14:creationId xmlns:p14="http://schemas.microsoft.com/office/powerpoint/2010/main" val="40589094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3796B5-A488-66D3-4635-D2B6597365F7}"/>
              </a:ext>
            </a:extLst>
          </p:cNvPr>
          <p:cNvSpPr>
            <a:spLocks noGrp="1"/>
          </p:cNvSpPr>
          <p:nvPr>
            <p:ph type="title"/>
          </p:nvPr>
        </p:nvSpPr>
        <p:spPr>
          <a:xfrm>
            <a:off x="803775" y="1106007"/>
            <a:ext cx="10550025" cy="1182927"/>
          </a:xfrm>
        </p:spPr>
        <p:txBody>
          <a:bodyPr anchor="b">
            <a:normAutofit/>
          </a:bodyPr>
          <a:lstStyle/>
          <a:p>
            <a:r>
              <a:rPr lang="en-CA" sz="5600" dirty="0"/>
              <a:t>Extension</a:t>
            </a:r>
          </a:p>
        </p:txBody>
      </p:sp>
      <p:cxnSp>
        <p:nvCxnSpPr>
          <p:cNvPr id="10" name="Straight Connector 9">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78" y="806470"/>
            <a:ext cx="7903723" cy="0"/>
          </a:xfrm>
          <a:prstGeom prst="line">
            <a:avLst/>
          </a:prstGeom>
          <a:ln w="25400" cap="sq">
            <a:gradFill flip="none" rotWithShape="1">
              <a:gsLst>
                <a:gs pos="0">
                  <a:schemeClr val="accent1"/>
                </a:gs>
                <a:gs pos="100000">
                  <a:schemeClr val="accent2"/>
                </a:gs>
              </a:gsLst>
              <a:lin ang="10800000" scaled="0"/>
              <a:tileRect/>
            </a:gradFill>
            <a:beve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8D0298D-DEBA-2254-3801-D4A60438443E}"/>
              </a:ext>
            </a:extLst>
          </p:cNvPr>
          <p:cNvSpPr>
            <a:spLocks noGrp="1"/>
          </p:cNvSpPr>
          <p:nvPr>
            <p:ph idx="1"/>
          </p:nvPr>
        </p:nvSpPr>
        <p:spPr>
          <a:xfrm>
            <a:off x="803775" y="2598947"/>
            <a:ext cx="10550025" cy="3677348"/>
          </a:xfrm>
        </p:spPr>
        <p:txBody>
          <a:bodyPr anchor="t">
            <a:normAutofit fontScale="92500" lnSpcReduction="10000"/>
          </a:bodyPr>
          <a:lstStyle/>
          <a:p>
            <a:r>
              <a:rPr lang="en-CA" sz="2000" dirty="0">
                <a:solidFill>
                  <a:schemeClr val="tx1">
                    <a:alpha val="80000"/>
                  </a:schemeClr>
                </a:solidFill>
              </a:rPr>
              <a:t>More transparent model selection</a:t>
            </a:r>
          </a:p>
          <a:p>
            <a:pPr lvl="1"/>
            <a:r>
              <a:rPr lang="en-CA" sz="1600" dirty="0">
                <a:solidFill>
                  <a:schemeClr val="tx1">
                    <a:alpha val="80000"/>
                  </a:schemeClr>
                </a:solidFill>
              </a:rPr>
              <a:t>Use new diagnostics to show more clearly why one topic solution was chosen over another</a:t>
            </a:r>
            <a:endParaRPr lang="en-CA" sz="2000" dirty="0">
              <a:solidFill>
                <a:schemeClr val="tx1">
                  <a:alpha val="80000"/>
                </a:schemeClr>
              </a:solidFill>
            </a:endParaRPr>
          </a:p>
          <a:p>
            <a:r>
              <a:rPr lang="en-CA" sz="2000" dirty="0">
                <a:solidFill>
                  <a:schemeClr val="tx1">
                    <a:alpha val="80000"/>
                  </a:schemeClr>
                </a:solidFill>
              </a:rPr>
              <a:t>Incorporate explicit stability checks</a:t>
            </a:r>
          </a:p>
          <a:p>
            <a:pPr lvl="1"/>
            <a:r>
              <a:rPr lang="en-CA" sz="1600" dirty="0">
                <a:solidFill>
                  <a:schemeClr val="tx1">
                    <a:alpha val="80000"/>
                  </a:schemeClr>
                </a:solidFill>
              </a:rPr>
              <a:t>To show whether similar topics reappear across different seeds and candidate models</a:t>
            </a:r>
            <a:endParaRPr lang="en-CA" sz="2000" dirty="0">
              <a:solidFill>
                <a:schemeClr val="tx1">
                  <a:alpha val="80000"/>
                </a:schemeClr>
              </a:solidFill>
            </a:endParaRPr>
          </a:p>
          <a:p>
            <a:r>
              <a:rPr lang="en-CA" sz="2000" dirty="0">
                <a:solidFill>
                  <a:schemeClr val="tx1">
                    <a:alpha val="80000"/>
                  </a:schemeClr>
                </a:solidFill>
              </a:rPr>
              <a:t>Making preprocessing steps more explicit</a:t>
            </a:r>
          </a:p>
          <a:p>
            <a:pPr lvl="1"/>
            <a:r>
              <a:rPr lang="en-CA" sz="1600" dirty="0">
                <a:solidFill>
                  <a:schemeClr val="tx1">
                    <a:alpha val="80000"/>
                  </a:schemeClr>
                </a:solidFill>
              </a:rPr>
              <a:t>STM now includes </a:t>
            </a:r>
            <a:r>
              <a:rPr lang="en-CA" sz="1600" dirty="0" err="1">
                <a:solidFill>
                  <a:schemeClr val="tx1">
                    <a:alpha val="80000"/>
                  </a:schemeClr>
                </a:solidFill>
              </a:rPr>
              <a:t>textProcessor</a:t>
            </a:r>
            <a:r>
              <a:rPr lang="en-CA" sz="1600" dirty="0">
                <a:solidFill>
                  <a:schemeClr val="tx1">
                    <a:alpha val="80000"/>
                  </a:schemeClr>
                </a:solidFill>
              </a:rPr>
              <a:t>() and </a:t>
            </a:r>
            <a:r>
              <a:rPr lang="en-CA" sz="1600" dirty="0" err="1">
                <a:solidFill>
                  <a:schemeClr val="tx1">
                    <a:alpha val="80000"/>
                  </a:schemeClr>
                </a:solidFill>
              </a:rPr>
              <a:t>prepDocuments</a:t>
            </a:r>
            <a:r>
              <a:rPr lang="en-CA" sz="1600" dirty="0">
                <a:solidFill>
                  <a:schemeClr val="tx1">
                    <a:alpha val="80000"/>
                  </a:schemeClr>
                </a:solidFill>
              </a:rPr>
              <a:t>() and </a:t>
            </a:r>
          </a:p>
          <a:p>
            <a:r>
              <a:rPr lang="en-CA" sz="2000" dirty="0">
                <a:solidFill>
                  <a:schemeClr val="tx1">
                    <a:alpha val="80000"/>
                  </a:schemeClr>
                </a:solidFill>
              </a:rPr>
              <a:t>Better replication packaging</a:t>
            </a:r>
          </a:p>
          <a:p>
            <a:pPr lvl="1"/>
            <a:r>
              <a:rPr lang="en-CA" sz="1600" dirty="0">
                <a:solidFill>
                  <a:schemeClr val="tx1">
                    <a:alpha val="80000"/>
                  </a:schemeClr>
                </a:solidFill>
              </a:rPr>
              <a:t>I would include all helper scripts, software versions, and code for every figure (an in organized script) so the paper is easier to reproduce</a:t>
            </a:r>
            <a:endParaRPr lang="en-CA" sz="2000" dirty="0">
              <a:solidFill>
                <a:schemeClr val="tx1">
                  <a:alpha val="80000"/>
                </a:schemeClr>
              </a:solidFill>
            </a:endParaRPr>
          </a:p>
          <a:p>
            <a:r>
              <a:rPr lang="en-CA" sz="2000" dirty="0">
                <a:solidFill>
                  <a:schemeClr val="tx1">
                    <a:alpha val="80000"/>
                  </a:schemeClr>
                </a:solidFill>
              </a:rPr>
              <a:t>It may be interesting to make this process more automated, for example: </a:t>
            </a:r>
          </a:p>
          <a:p>
            <a:pPr lvl="1"/>
            <a:r>
              <a:rPr lang="en-CA" sz="2000" dirty="0">
                <a:solidFill>
                  <a:schemeClr val="tx1">
                    <a:alpha val="80000"/>
                  </a:schemeClr>
                </a:solidFill>
              </a:rPr>
              <a:t>Create a function that both changes the seed and runs the candidate models itself? And then produces semantic coherence exclusivity plots that I can see and compare all at once. </a:t>
            </a:r>
          </a:p>
          <a:p>
            <a:endParaRPr lang="en-CA" sz="2000" dirty="0">
              <a:solidFill>
                <a:schemeClr val="tx1">
                  <a:alpha val="80000"/>
                </a:schemeClr>
              </a:solidFill>
            </a:endParaRPr>
          </a:p>
        </p:txBody>
      </p:sp>
      <p:grpSp>
        <p:nvGrpSpPr>
          <p:cNvPr id="12" name="Group 11">
            <a:extLst>
              <a:ext uri="{FF2B5EF4-FFF2-40B4-BE49-F238E27FC236}">
                <a16:creationId xmlns:a16="http://schemas.microsoft.com/office/drawing/2014/main" id="{78350D8D-73D6-4132-89B5-DD52F3962A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88224" y="2325422"/>
            <a:ext cx="465458" cy="872153"/>
            <a:chOff x="11388224" y="2325422"/>
            <a:chExt cx="465458" cy="872153"/>
          </a:xfrm>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3764" y="232542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762544" y="255471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88224" y="306986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p>
          </p:txBody>
        </p:sp>
      </p:grpSp>
    </p:spTree>
    <p:extLst>
      <p:ext uri="{BB962C8B-B14F-4D97-AF65-F5344CB8AC3E}">
        <p14:creationId xmlns:p14="http://schemas.microsoft.com/office/powerpoint/2010/main" val="31925767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DFD0AC-1379-EEB6-434C-25C9950F6D44}"/>
              </a:ext>
            </a:extLst>
          </p:cNvPr>
          <p:cNvSpPr>
            <a:spLocks noGrp="1"/>
          </p:cNvSpPr>
          <p:nvPr>
            <p:ph type="title"/>
          </p:nvPr>
        </p:nvSpPr>
        <p:spPr>
          <a:xfrm>
            <a:off x="803775" y="1106007"/>
            <a:ext cx="10550025" cy="1182927"/>
          </a:xfrm>
        </p:spPr>
        <p:txBody>
          <a:bodyPr anchor="b">
            <a:normAutofit/>
          </a:bodyPr>
          <a:lstStyle/>
          <a:p>
            <a:r>
              <a:rPr lang="en-CA" sz="5600"/>
              <a:t>Conclusion</a:t>
            </a:r>
          </a:p>
        </p:txBody>
      </p:sp>
      <p:cxnSp>
        <p:nvCxnSpPr>
          <p:cNvPr id="10" name="Straight Connector 9">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78" y="806470"/>
            <a:ext cx="7903723" cy="0"/>
          </a:xfrm>
          <a:prstGeom prst="line">
            <a:avLst/>
          </a:prstGeom>
          <a:ln w="25400" cap="sq">
            <a:gradFill flip="none" rotWithShape="1">
              <a:gsLst>
                <a:gs pos="0">
                  <a:schemeClr val="accent1"/>
                </a:gs>
                <a:gs pos="100000">
                  <a:schemeClr val="accent2"/>
                </a:gs>
              </a:gsLst>
              <a:lin ang="10800000" scaled="0"/>
              <a:tileRect/>
            </a:gradFill>
            <a:beve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87E96C5-1534-7ED1-1F65-0A29139F95A7}"/>
              </a:ext>
            </a:extLst>
          </p:cNvPr>
          <p:cNvSpPr>
            <a:spLocks noGrp="1"/>
          </p:cNvSpPr>
          <p:nvPr>
            <p:ph idx="1"/>
          </p:nvPr>
        </p:nvSpPr>
        <p:spPr>
          <a:xfrm>
            <a:off x="803775" y="2598947"/>
            <a:ext cx="10550025" cy="3677348"/>
          </a:xfrm>
        </p:spPr>
        <p:txBody>
          <a:bodyPr anchor="t">
            <a:normAutofit/>
          </a:bodyPr>
          <a:lstStyle/>
          <a:p>
            <a:r>
              <a:rPr lang="en-CA" sz="2000">
                <a:solidFill>
                  <a:schemeClr val="tx1">
                    <a:alpha val="80000"/>
                  </a:schemeClr>
                </a:solidFill>
              </a:rPr>
              <a:t>Overall, I was able to partly replicate the core findings of the paper, but due to the missing replication files and inconsistent/improperly formatted files that were included for the Rand analysis on priming and intuition, I have not beeen able to reproduce a full replication of the paper. </a:t>
            </a:r>
          </a:p>
        </p:txBody>
      </p:sp>
      <p:grpSp>
        <p:nvGrpSpPr>
          <p:cNvPr id="12" name="Group 11">
            <a:extLst>
              <a:ext uri="{FF2B5EF4-FFF2-40B4-BE49-F238E27FC236}">
                <a16:creationId xmlns:a16="http://schemas.microsoft.com/office/drawing/2014/main" id="{78350D8D-73D6-4132-89B5-DD52F3962A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88224" y="2325422"/>
            <a:ext cx="465458" cy="872153"/>
            <a:chOff x="11388224" y="2325422"/>
            <a:chExt cx="465458" cy="872153"/>
          </a:xfrm>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03764" y="232542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762544" y="255471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88224" y="306986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p>
          </p:txBody>
        </p:sp>
      </p:grpSp>
    </p:spTree>
    <p:extLst>
      <p:ext uri="{BB962C8B-B14F-4D97-AF65-F5344CB8AC3E}">
        <p14:creationId xmlns:p14="http://schemas.microsoft.com/office/powerpoint/2010/main" val="13790563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4503</TotalTime>
  <Words>748</Words>
  <Application>Microsoft Office PowerPoint</Application>
  <PresentationFormat>Widescreen</PresentationFormat>
  <Paragraphs>69</Paragraphs>
  <Slides>17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Aptos Display</vt:lpstr>
      <vt:lpstr>Arial</vt:lpstr>
      <vt:lpstr>Office Theme</vt:lpstr>
      <vt:lpstr>Replication of Roberts et al.’s “Structural Topic Models for Open-Ended Survey Responses”</vt:lpstr>
      <vt:lpstr>Introduction</vt:lpstr>
      <vt:lpstr>Methods</vt:lpstr>
      <vt:lpstr>Gadarian Experiments: Figure 4: Vocab in Figures 1 and 2</vt:lpstr>
      <vt:lpstr>Gadarian Experiment: Figure 5: Representative Response From Topic 1</vt:lpstr>
      <vt:lpstr>Gadarian Experiment: Figure 6: Representative Response from Topic 2</vt:lpstr>
      <vt:lpstr>Results: Gadarian Experiments: Figure 7</vt:lpstr>
      <vt:lpstr>Gadarian Experiment: Figures 8</vt:lpstr>
      <vt:lpstr>Gadarian Experiment: Figures 9 and 10</vt:lpstr>
      <vt:lpstr>Results: ANES Most Important Problem: Figure 17</vt:lpstr>
      <vt:lpstr>ANES Most Important Problem: Figure 18</vt:lpstr>
      <vt:lpstr>Replication Autopsy: What did I learn? </vt:lpstr>
      <vt:lpstr>Replication Autopsy: What worked</vt:lpstr>
      <vt:lpstr>Replication Autopsy: What did not work</vt:lpstr>
      <vt:lpstr>Replication Autopsy: Why the Rand replication failed</vt:lpstr>
      <vt:lpstr>Extension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Kaylynn Driggers</dc:creator>
  <cp:lastModifiedBy>Kaylynn Driggers</cp:lastModifiedBy>
  <cp:revision>11</cp:revision>
  <dcterms:created xsi:type="dcterms:W3CDTF">2026-03-27T14:28:04Z</dcterms:created>
  <dcterms:modified xsi:type="dcterms:W3CDTF">2026-03-30T17:54:34Z</dcterms:modified>
</cp:coreProperties>
</file>